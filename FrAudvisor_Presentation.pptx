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88" r:id="rId10"/>
    <p:sldId id="289" r:id="rId11"/>
    <p:sldId id="290" r:id="rId12"/>
    <p:sldId id="291" r:id="rId13"/>
    <p:sldId id="292" r:id="rId14"/>
    <p:sldId id="294" r:id="rId15"/>
    <p:sldId id="295" r:id="rId16"/>
    <p:sldId id="296" r:id="rId17"/>
    <p:sldId id="297" r:id="rId18"/>
    <p:sldId id="299" r:id="rId19"/>
    <p:sldId id="301" r:id="rId20"/>
    <p:sldId id="305" r:id="rId21"/>
    <p:sldId id="306" r:id="rId22"/>
    <p:sldId id="307" r:id="rId23"/>
    <p:sldId id="308" r:id="rId24"/>
    <p:sldId id="284" r:id="rId25"/>
    <p:sldId id="285" r:id="rId26"/>
    <p:sldId id="286" r:id="rId27"/>
    <p:sldId id="287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65" autoAdjust="0"/>
    <p:restoredTop sz="94610"/>
  </p:normalViewPr>
  <p:slideViewPr>
    <p:cSldViewPr snapToGrid="0" snapToObjects="1">
      <p:cViewPr>
        <p:scale>
          <a:sx n="86" d="100"/>
          <a:sy n="86" d="100"/>
        </p:scale>
        <p:origin x="1740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40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53822-B077-DAF5-749C-681D0A63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4C597-7AAD-C9CD-8F3B-E5009C8A4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EF03A-F2F4-F6CF-4266-8D75EDBCF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B8148-9AE4-5181-54BF-63650E4791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51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B32D-7A26-61B6-A670-624947FE7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316A9-8788-A241-2C49-FA622C822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796F3-CEFB-44F4-7CFB-29AB9B6AB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B4E22-8013-3236-8F77-6EF5DF6935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8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AFFD1-5FB7-EA8B-D8CC-5BBC7867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05D4D7-18EF-6738-7464-2B265CCF9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DD9381-13CD-BD16-DEC8-0C2BF0444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D0E0C-1E10-226E-7339-B16B789DD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9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BEDE-A8F3-2A44-9D46-5D2C7B269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73560-81C9-EE09-01C6-AA60C3BC2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14BE1-6AE8-D32E-F8E8-C16085B9C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8F04F-E0E2-3990-6AF5-4DF8D138C6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500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DD1A-2D46-8CF1-262F-7E0D64F27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1A68F-2973-0B77-8CA8-8DA654966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9DA72-B827-DE4B-DC9F-2012FA099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D50FC-3011-59B3-8678-23689AC86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30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9DD1-CB85-F522-ED7F-BEA74557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C4581-0851-4241-50B6-981BD8308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FB938-5170-4A7D-7EDA-B20EA8667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9BA75-E921-DF1E-12A2-9ADE98A6A2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27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491E-4867-D8AE-F4F9-D624EB86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51636-5B4F-191F-4637-1621C9BA6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2D748-4DD0-F5A3-7145-45BC4FE5F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1522B-E031-FF19-B970-B7E35F236A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435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12E99-9A48-D323-7C9D-441A2573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ABF31-0144-0225-B84B-86AB159AA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45DB4-68A5-0D3C-1EEF-A157C2A7D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DCC93-564D-F122-90F3-34D33B7E8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00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31493-E98F-55B1-A39A-DFCE75FB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5A992-FCAD-76DA-D35E-43C76EFEF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C8CDC-35F5-A907-1F29-3066E84A5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F24D1-9B3E-9E1B-0E04-0BCC39301C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957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36AC-AC80-9CDD-7191-B34AC55F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4CE37-6197-8078-127B-D94961E81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898DD-8BA3-30B4-A75C-5C9135091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69020-31A3-BD96-1880-A843E3E38C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944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D212-F83D-234C-B249-D7AF98A4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2EBF8-B4DC-8DE3-54AC-7FC825188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1A484-F9FF-16CB-CD7D-715CD950C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9D187-2CE4-E49A-EF1C-63A9F3CA00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59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AC4E-C50C-0A22-0B2C-77A275261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628A6-C9DA-11F7-7204-FB83A9A1A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FE8A3-BCAC-6878-DBC1-ED4D2033E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155C0-8E81-95D3-6E7D-1D6ACADFB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261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EAD4-CA47-F44F-3804-6EE67A13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40811-8614-3E04-DAB9-C0C71EF12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711E8-DADC-EA5A-DA64-692A5E230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2B984-989D-6205-F933-ADC5B096E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61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B1E5-FE9E-3604-679C-ED95D2AFC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5BAAD-817B-53BC-BE4C-C61B823D8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4E0A2-44A1-E15A-9E94-2D943D6E6F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E04F1-9EDD-AE19-5C52-FC7F026751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436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5119-F294-E19A-93A6-ED5C6CE91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57624-B779-FFA6-5C35-39CE9206F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CC47C-30D9-D089-E02F-F31CEE932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4AAAB-EC1D-D3C7-6076-50CC0B54D6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441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572768"/>
            <a:ext cx="5074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54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</a:t>
            </a:r>
            <a:r>
              <a:rPr lang="en-US" sz="5400" b="1" dirty="0">
                <a:solidFill>
                  <a:srgbClr val="7E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r>
              <a:rPr lang="en-US" sz="54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udvisor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13232" y="2505456"/>
            <a:ext cx="5029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B36"/>
                </a:solidFill>
              </a:rPr>
              <a:t>Car Insurance Fraud Detection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13232" y="3721608"/>
            <a:ext cx="3474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565B"/>
                </a:solidFill>
              </a:rPr>
              <a:t>Data Science Final Project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3232" y="4370832"/>
            <a:ext cx="3474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B36"/>
                </a:solidFill>
              </a:rPr>
              <a:t>Presented by Yoan Liu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5001768"/>
            <a:ext cx="51206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0444E"/>
                </a:solidFill>
              </a:rPr>
              <a:t>An end-to-end business case: from raw insurance claims to fraud-risk decisions, explainability and deployment.</a:t>
            </a:r>
            <a:endParaRPr lang="en-US" sz="1500" dirty="0"/>
          </a:p>
        </p:txBody>
      </p:sp>
      <p:pic>
        <p:nvPicPr>
          <p:cNvPr id="8" name="Image 1" descr="/mnt/data/fraud_cover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109" y="1689191"/>
            <a:ext cx="7394818" cy="33125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5029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58368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B8"/>
                </a:solidFill>
              </a:rPr>
              <a:t>━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1572768"/>
            <a:ext cx="502920" cy="384048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45336" y="160020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B36"/>
                </a:solidFill>
              </a:rPr>
              <a:t>Problem &amp; Business Context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2807208"/>
            <a:ext cx="502920" cy="384048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45336" y="283464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B36"/>
                </a:solidFill>
              </a:rPr>
              <a:t>EDA &amp; Preprocessing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68680" y="4041648"/>
            <a:ext cx="502920" cy="384048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45336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B36"/>
                </a:solidFill>
              </a:rPr>
              <a:t>Modeling, Prediction &amp; Evaluation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446520" y="1572768"/>
            <a:ext cx="502920" cy="384048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23176" y="160020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B36"/>
                </a:solidFill>
              </a:rPr>
              <a:t>Threshold &amp; Business Impact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46520" y="2807208"/>
            <a:ext cx="502920" cy="384048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123176" y="283464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B36"/>
                </a:solidFill>
              </a:rPr>
              <a:t>Explainability &amp; Demo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446520" y="4041648"/>
            <a:ext cx="502920" cy="384048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23176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B36"/>
                </a:solidFill>
              </a:rPr>
              <a:t>Summary, Takeaways &amp; Conclusions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3A3E"/>
                </a:solidFill>
                <a:latin typeface="Aptos Display"/>
              </a:rPr>
              <a:t>This is not just a probability score</a:t>
            </a:r>
          </a:p>
        </p:txBody>
      </p:sp>
      <p:sp>
        <p:nvSpPr>
          <p:cNvPr id="6" name="Text 3"/>
          <p:cNvSpPr/>
          <p:nvPr/>
        </p:nvSpPr>
        <p:spPr>
          <a:xfrm>
            <a:off x="658368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D4D06F4-B0FD-5A8D-E1AD-62AAE0FEB450}"/>
              </a:ext>
            </a:extLst>
          </p:cNvPr>
          <p:cNvSpPr txBox="1"/>
          <p:nvPr/>
        </p:nvSpPr>
        <p:spPr>
          <a:xfrm>
            <a:off x="603504" y="502920"/>
            <a:ext cx="201168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b="1" dirty="0">
                <a:solidFill>
                  <a:srgbClr val="00848C"/>
                </a:solidFill>
              </a:rPr>
              <a:t>BUSINESS PROBLEM</a:t>
            </a:r>
          </a:p>
        </p:txBody>
      </p:sp>
      <p:sp>
        <p:nvSpPr>
          <p:cNvPr id="12" name="Rectangle 8"/>
          <p:cNvSpPr/>
          <p:nvPr/>
        </p:nvSpPr>
        <p:spPr>
          <a:xfrm>
            <a:off x="603504" y="1810512"/>
            <a:ext cx="594360" cy="41148"/>
          </a:xfrm>
          <a:prstGeom prst="rect">
            <a:avLst/>
          </a:prstGeom>
          <a:solidFill>
            <a:srgbClr val="008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9"/>
          <p:cNvSpPr txBox="1"/>
          <p:nvPr/>
        </p:nvSpPr>
        <p:spPr>
          <a:xfrm>
            <a:off x="603504" y="1993392"/>
            <a:ext cx="5806440" cy="56692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900" b="1" dirty="0">
                <a:solidFill>
                  <a:srgbClr val="26343C"/>
                </a:solidFill>
              </a:rPr>
              <a:t>The real question is: which claims deserve human attention first?</a:t>
            </a:r>
          </a:p>
        </p:txBody>
      </p:sp>
      <p:sp>
        <p:nvSpPr>
          <p:cNvPr id="14" name="Rounded Rectangle 10"/>
          <p:cNvSpPr/>
          <p:nvPr/>
        </p:nvSpPr>
        <p:spPr>
          <a:xfrm>
            <a:off x="603504" y="2779776"/>
            <a:ext cx="5349240" cy="713232"/>
          </a:xfrm>
          <a:prstGeom prst="roundRect">
            <a:avLst/>
          </a:prstGeom>
          <a:solidFill>
            <a:srgbClr val="DAF4F8"/>
          </a:solidFill>
          <a:ln w="15240">
            <a:solidFill>
              <a:srgbClr val="B3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1"/>
          <p:cNvSpPr txBox="1"/>
          <p:nvPr/>
        </p:nvSpPr>
        <p:spPr>
          <a:xfrm>
            <a:off x="841248" y="2926080"/>
            <a:ext cx="4892040" cy="38404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600" b="1" dirty="0">
                <a:solidFill>
                  <a:srgbClr val="003A3E"/>
                </a:solidFill>
              </a:rPr>
              <a:t>A fraud model only creates value when it changes the claims workflow.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694944" y="3813048"/>
            <a:ext cx="5596128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70">
                <a:solidFill>
                  <a:srgbClr val="26343C"/>
                </a:solidFill>
              </a:defRPr>
            </a:pPr>
            <a:r>
              <a:rPr dirty="0"/>
              <a:t>• Insurance fraud is operational: investigators have limited time.</a:t>
            </a:r>
          </a:p>
          <a:p>
            <a:pPr>
              <a:spcAft>
                <a:spcPts val="700"/>
              </a:spcAft>
              <a:defRPr sz="1470">
                <a:solidFill>
                  <a:srgbClr val="26343C"/>
                </a:solidFill>
              </a:defRPr>
            </a:pPr>
            <a:r>
              <a:rPr dirty="0"/>
              <a:t>• A missed fraudulent claim can be more expensive than reviewing a false alarm.</a:t>
            </a:r>
          </a:p>
          <a:p>
            <a:pPr>
              <a:spcAft>
                <a:spcPts val="700"/>
              </a:spcAft>
              <a:defRPr sz="1470">
                <a:solidFill>
                  <a:srgbClr val="26343C"/>
                </a:solidFill>
              </a:defRPr>
            </a:pPr>
            <a:r>
              <a:rPr dirty="0"/>
              <a:t>• The output must be understandable enough to support action.</a:t>
            </a:r>
          </a:p>
        </p:txBody>
      </p:sp>
      <p:sp>
        <p:nvSpPr>
          <p:cNvPr id="17" name="Rounded Rectangle 13"/>
          <p:cNvSpPr/>
          <p:nvPr/>
        </p:nvSpPr>
        <p:spPr>
          <a:xfrm>
            <a:off x="6446520" y="1508760"/>
            <a:ext cx="4983480" cy="3611880"/>
          </a:xfrm>
          <a:prstGeom prst="roundRect">
            <a:avLst/>
          </a:prstGeom>
          <a:solidFill>
            <a:srgbClr val="F8FDFE"/>
          </a:solidFill>
          <a:ln w="17780">
            <a:solidFill>
              <a:srgbClr val="B2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4"/>
          <p:cNvSpPr txBox="1"/>
          <p:nvPr/>
        </p:nvSpPr>
        <p:spPr>
          <a:xfrm>
            <a:off x="6720840" y="1764792"/>
            <a:ext cx="4480560" cy="4114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700" b="1" dirty="0">
                <a:solidFill>
                  <a:srgbClr val="003A3E"/>
                </a:solidFill>
              </a:rPr>
              <a:t>From model output to business action</a:t>
            </a:r>
          </a:p>
        </p:txBody>
      </p:sp>
      <p:sp>
        <p:nvSpPr>
          <p:cNvPr id="19" name="Oval 15"/>
          <p:cNvSpPr/>
          <p:nvPr/>
        </p:nvSpPr>
        <p:spPr>
          <a:xfrm>
            <a:off x="6812280" y="2487168"/>
            <a:ext cx="932688" cy="932688"/>
          </a:xfrm>
          <a:prstGeom prst="ellipse">
            <a:avLst/>
          </a:prstGeom>
          <a:solidFill>
            <a:srgbClr val="DAF4F8"/>
          </a:solidFill>
          <a:ln w="19050">
            <a:solidFill>
              <a:srgbClr val="7F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6"/>
          <p:cNvSpPr txBox="1"/>
          <p:nvPr/>
        </p:nvSpPr>
        <p:spPr>
          <a:xfrm>
            <a:off x="6812280" y="2697480"/>
            <a:ext cx="932688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03A3E"/>
                </a:solidFill>
              </a:rPr>
              <a:t>1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6611112" y="3584448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003A3E"/>
                </a:solidFill>
              </a:rPr>
              <a:t>Claim</a:t>
            </a:r>
          </a:p>
          <a:p>
            <a:pPr algn="ctr"/>
            <a:r>
              <a:rPr sz="950">
                <a:solidFill>
                  <a:srgbClr val="5B707A"/>
                </a:solidFill>
              </a:rPr>
              <a:t>new case</a:t>
            </a:r>
          </a:p>
        </p:txBody>
      </p:sp>
      <p:sp>
        <p:nvSpPr>
          <p:cNvPr id="22" name="Oval 18"/>
          <p:cNvSpPr/>
          <p:nvPr/>
        </p:nvSpPr>
        <p:spPr>
          <a:xfrm>
            <a:off x="8183879" y="2487168"/>
            <a:ext cx="932688" cy="932688"/>
          </a:xfrm>
          <a:prstGeom prst="ellipse">
            <a:avLst/>
          </a:prstGeom>
          <a:solidFill>
            <a:srgbClr val="00848C"/>
          </a:solidFill>
          <a:ln w="19050">
            <a:solidFill>
              <a:srgbClr val="7F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9"/>
          <p:cNvSpPr txBox="1"/>
          <p:nvPr/>
        </p:nvSpPr>
        <p:spPr>
          <a:xfrm>
            <a:off x="8183879" y="2697480"/>
            <a:ext cx="932688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0"/>
          <p:cNvSpPr txBox="1"/>
          <p:nvPr/>
        </p:nvSpPr>
        <p:spPr>
          <a:xfrm>
            <a:off x="7982711" y="3584448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003A3E"/>
                </a:solidFill>
              </a:rPr>
              <a:t>Risk score</a:t>
            </a:r>
          </a:p>
          <a:p>
            <a:pPr algn="ctr"/>
            <a:r>
              <a:rPr sz="950">
                <a:solidFill>
                  <a:srgbClr val="5B707A"/>
                </a:solidFill>
              </a:rPr>
              <a:t>fraud probability</a:t>
            </a:r>
          </a:p>
        </p:txBody>
      </p:sp>
      <p:sp>
        <p:nvSpPr>
          <p:cNvPr id="25" name="Oval 21"/>
          <p:cNvSpPr/>
          <p:nvPr/>
        </p:nvSpPr>
        <p:spPr>
          <a:xfrm>
            <a:off x="9555480" y="2487168"/>
            <a:ext cx="932688" cy="932688"/>
          </a:xfrm>
          <a:prstGeom prst="ellipse">
            <a:avLst/>
          </a:prstGeom>
          <a:solidFill>
            <a:srgbClr val="DAF4F8"/>
          </a:solidFill>
          <a:ln w="19050">
            <a:solidFill>
              <a:srgbClr val="7FC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2"/>
          <p:cNvSpPr txBox="1"/>
          <p:nvPr/>
        </p:nvSpPr>
        <p:spPr>
          <a:xfrm>
            <a:off x="9555480" y="2697480"/>
            <a:ext cx="932688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03A3E"/>
                </a:solidFill>
              </a:rPr>
              <a:t>3</a:t>
            </a:r>
          </a:p>
        </p:txBody>
      </p:sp>
      <p:sp>
        <p:nvSpPr>
          <p:cNvPr id="27" name="TextBox 23"/>
          <p:cNvSpPr txBox="1"/>
          <p:nvPr/>
        </p:nvSpPr>
        <p:spPr>
          <a:xfrm>
            <a:off x="9354312" y="3584448"/>
            <a:ext cx="133502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50" b="1">
                <a:solidFill>
                  <a:srgbClr val="003A3E"/>
                </a:solidFill>
              </a:rPr>
              <a:t>Review queue</a:t>
            </a:r>
          </a:p>
          <a:p>
            <a:pPr algn="ctr"/>
            <a:r>
              <a:rPr sz="950">
                <a:solidFill>
                  <a:srgbClr val="5B707A"/>
                </a:solidFill>
              </a:rPr>
              <a:t>human triage</a:t>
            </a:r>
          </a:p>
        </p:txBody>
      </p:sp>
      <p:cxnSp>
        <p:nvCxnSpPr>
          <p:cNvPr id="28" name="Connector 24"/>
          <p:cNvCxnSpPr/>
          <p:nvPr/>
        </p:nvCxnSpPr>
        <p:spPr>
          <a:xfrm>
            <a:off x="7744968" y="2953512"/>
            <a:ext cx="438911" cy="0"/>
          </a:xfrm>
          <a:prstGeom prst="line">
            <a:avLst/>
          </a:prstGeom>
          <a:ln w="30480">
            <a:solidFill>
              <a:srgbClr val="008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5"/>
          <p:cNvCxnSpPr/>
          <p:nvPr/>
        </p:nvCxnSpPr>
        <p:spPr>
          <a:xfrm>
            <a:off x="9116568" y="2953512"/>
            <a:ext cx="438912" cy="0"/>
          </a:xfrm>
          <a:prstGeom prst="line">
            <a:avLst/>
          </a:prstGeom>
          <a:ln w="30480">
            <a:solidFill>
              <a:srgbClr val="0084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6"/>
          <p:cNvSpPr/>
          <p:nvPr/>
        </p:nvSpPr>
        <p:spPr>
          <a:xfrm>
            <a:off x="6812280" y="4434840"/>
            <a:ext cx="4069080" cy="22860"/>
          </a:xfrm>
          <a:prstGeom prst="rect">
            <a:avLst/>
          </a:prstGeom>
          <a:solidFill>
            <a:srgbClr val="B4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27"/>
          <p:cNvSpPr txBox="1"/>
          <p:nvPr/>
        </p:nvSpPr>
        <p:spPr>
          <a:xfrm>
            <a:off x="6766560" y="4608576"/>
            <a:ext cx="4160520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ctr"/>
            <a:r>
              <a:rPr sz="1420" b="1">
                <a:solidFill>
                  <a:srgbClr val="00848C"/>
                </a:solidFill>
              </a:rPr>
              <a:t>Goal: a practical decision-support system for fraud triage.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6C490CD8-2FAA-A422-9475-71CB58989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B8"/>
                </a:solidFill>
              </a:rPr>
              <a:t>━</a:t>
            </a:r>
            <a:endParaRPr lang="en-US" sz="1800" dirty="0"/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C17A5D6F-899E-4A51-846E-0281544A7D5F}"/>
              </a:ext>
            </a:extLst>
          </p:cNvPr>
          <p:cNvSpPr txBox="1"/>
          <p:nvPr/>
        </p:nvSpPr>
        <p:spPr>
          <a:xfrm>
            <a:off x="603504" y="502920"/>
            <a:ext cx="2011680" cy="2286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>
                <a:solidFill>
                  <a:srgbClr val="00848C"/>
                </a:solidFill>
              </a:rPr>
              <a:t>BUSINESS PROBLEM</a:t>
            </a:r>
            <a:endParaRPr sz="1050" b="1" dirty="0">
              <a:solidFill>
                <a:srgbClr val="00848C"/>
              </a:solidFill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76914F98-865A-50EA-BE7F-8FEB09AE0FDA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39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36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663EF965-3263-CE95-1961-29DE9EDBF211}"/>
              </a:ext>
            </a:extLst>
          </p:cNvPr>
          <p:cNvSpPr/>
          <p:nvPr/>
        </p:nvSpPr>
        <p:spPr>
          <a:xfrm>
            <a:off x="2011680" y="3831336"/>
            <a:ext cx="173736" cy="0"/>
          </a:xfrm>
          <a:prstGeom prst="line">
            <a:avLst/>
          </a:prstGeom>
          <a:noFill/>
          <a:ln w="26670">
            <a:solidFill>
              <a:srgbClr val="00A2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3710F992-22FB-F048-9B59-1CF4871AFFEC}"/>
              </a:ext>
            </a:extLst>
          </p:cNvPr>
          <p:cNvSpPr/>
          <p:nvPr/>
        </p:nvSpPr>
        <p:spPr>
          <a:xfrm>
            <a:off x="3685032" y="3831336"/>
            <a:ext cx="146304" cy="0"/>
          </a:xfrm>
          <a:prstGeom prst="line">
            <a:avLst/>
          </a:prstGeom>
          <a:noFill/>
          <a:ln w="26670">
            <a:solidFill>
              <a:srgbClr val="00A2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D1791252-A244-4F87-94A9-76BE3BCC5523}"/>
              </a:ext>
            </a:extLst>
          </p:cNvPr>
          <p:cNvSpPr/>
          <p:nvPr/>
        </p:nvSpPr>
        <p:spPr>
          <a:xfrm>
            <a:off x="5330952" y="3831336"/>
            <a:ext cx="173736" cy="0"/>
          </a:xfrm>
          <a:prstGeom prst="line">
            <a:avLst/>
          </a:prstGeom>
          <a:noFill/>
          <a:ln w="26670">
            <a:solidFill>
              <a:srgbClr val="00A2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53A62D78-1902-DB16-D907-C0734F65653A}"/>
              </a:ext>
            </a:extLst>
          </p:cNvPr>
          <p:cNvSpPr/>
          <p:nvPr/>
        </p:nvSpPr>
        <p:spPr>
          <a:xfrm>
            <a:off x="7004304" y="3831336"/>
            <a:ext cx="146304" cy="0"/>
          </a:xfrm>
          <a:prstGeom prst="line">
            <a:avLst/>
          </a:prstGeom>
          <a:noFill/>
          <a:ln w="26670">
            <a:solidFill>
              <a:srgbClr val="00A2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5C4B9725-ACD8-080E-4791-E53F2134B2E7}"/>
              </a:ext>
            </a:extLst>
          </p:cNvPr>
          <p:cNvSpPr/>
          <p:nvPr/>
        </p:nvSpPr>
        <p:spPr>
          <a:xfrm>
            <a:off x="8650224" y="3831336"/>
            <a:ext cx="182880" cy="0"/>
          </a:xfrm>
          <a:prstGeom prst="line">
            <a:avLst/>
          </a:prstGeom>
          <a:noFill/>
          <a:ln w="26670">
            <a:solidFill>
              <a:srgbClr val="00A2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E954A7B0-C37E-9629-52EC-86CFBE05C340}"/>
              </a:ext>
            </a:extLst>
          </p:cNvPr>
          <p:cNvSpPr/>
          <p:nvPr/>
        </p:nvSpPr>
        <p:spPr>
          <a:xfrm>
            <a:off x="10332720" y="3831336"/>
            <a:ext cx="82296" cy="0"/>
          </a:xfrm>
          <a:prstGeom prst="line">
            <a:avLst/>
          </a:prstGeom>
          <a:noFill/>
          <a:ln w="26670">
            <a:solidFill>
              <a:srgbClr val="00A2B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01E12349-F3C4-20B9-E1EB-601C10C7CAA7}"/>
              </a:ext>
            </a:extLst>
          </p:cNvPr>
          <p:cNvSpPr/>
          <p:nvPr/>
        </p:nvSpPr>
        <p:spPr>
          <a:xfrm>
            <a:off x="585216" y="3502152"/>
            <a:ext cx="1353312" cy="658368"/>
          </a:xfrm>
          <a:prstGeom prst="roundRect">
            <a:avLst>
              <a:gd name="adj" fmla="val 13889"/>
            </a:avLst>
          </a:prstGeom>
          <a:solidFill>
            <a:srgbClr val="E3F6FB"/>
          </a:solidFill>
          <a:ln w="15240">
            <a:solidFill>
              <a:srgbClr val="00A2B0"/>
            </a:solidFill>
            <a:prstDash val="solid"/>
          </a:ln>
          <a:effectLst>
            <a:outerShdw blurRad="12700" dist="50800" dir="2700000" algn="bl" rotWithShape="0">
              <a:srgbClr val="BFDDE5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89CDC5A2-8490-1CF8-B0DF-F5A791B894A7}"/>
              </a:ext>
            </a:extLst>
          </p:cNvPr>
          <p:cNvSpPr/>
          <p:nvPr/>
        </p:nvSpPr>
        <p:spPr>
          <a:xfrm>
            <a:off x="658368" y="3666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claims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2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F571273C-9CBB-385B-4C9C-1C0211E0A9CE}"/>
              </a:ext>
            </a:extLst>
          </p:cNvPr>
          <p:cNvSpPr/>
          <p:nvPr/>
        </p:nvSpPr>
        <p:spPr>
          <a:xfrm>
            <a:off x="2258568" y="3502152"/>
            <a:ext cx="1353312" cy="658368"/>
          </a:xfrm>
          <a:prstGeom prst="roundRect">
            <a:avLst>
              <a:gd name="adj" fmla="val 13889"/>
            </a:avLst>
          </a:prstGeom>
          <a:solidFill>
            <a:srgbClr val="F2FBFD"/>
          </a:solidFill>
          <a:ln w="15240">
            <a:solidFill>
              <a:srgbClr val="8BD0DF"/>
            </a:solidFill>
            <a:prstDash val="solid"/>
          </a:ln>
          <a:effectLst>
            <a:outerShdw blurRad="12700" dist="50800" dir="2700000" algn="bl" rotWithShape="0">
              <a:srgbClr val="BFDDE5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3E1D7A5A-A558-46AF-CF65-743A8D657A74}"/>
              </a:ext>
            </a:extLst>
          </p:cNvPr>
          <p:cNvSpPr/>
          <p:nvPr/>
        </p:nvSpPr>
        <p:spPr>
          <a:xfrm>
            <a:off x="2331720" y="3666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EDA</a:t>
            </a:r>
            <a:endParaRPr lang="en-US" sz="102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8FF97CE4-66A7-BF67-90F3-D423D00EF935}"/>
              </a:ext>
            </a:extLst>
          </p:cNvPr>
          <p:cNvSpPr/>
          <p:nvPr/>
        </p:nvSpPr>
        <p:spPr>
          <a:xfrm>
            <a:off x="3904488" y="3502152"/>
            <a:ext cx="1353312" cy="658368"/>
          </a:xfrm>
          <a:prstGeom prst="roundRect">
            <a:avLst>
              <a:gd name="adj" fmla="val 13889"/>
            </a:avLst>
          </a:prstGeom>
          <a:solidFill>
            <a:srgbClr val="E3F6FB"/>
          </a:solidFill>
          <a:ln w="15240">
            <a:solidFill>
              <a:srgbClr val="00A2B0"/>
            </a:solidFill>
            <a:prstDash val="solid"/>
          </a:ln>
          <a:effectLst>
            <a:outerShdw blurRad="12700" dist="50800" dir="2700000" algn="bl" rotWithShape="0">
              <a:srgbClr val="BFDDE5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ACFB2E45-FC66-DC85-B63F-100B3D5B3601}"/>
              </a:ext>
            </a:extLst>
          </p:cNvPr>
          <p:cNvSpPr/>
          <p:nvPr/>
        </p:nvSpPr>
        <p:spPr>
          <a:xfrm>
            <a:off x="3977640" y="3666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1020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761851EA-0047-BD3A-CBEC-61BDE38F2EC5}"/>
              </a:ext>
            </a:extLst>
          </p:cNvPr>
          <p:cNvSpPr/>
          <p:nvPr/>
        </p:nvSpPr>
        <p:spPr>
          <a:xfrm>
            <a:off x="5577840" y="3502152"/>
            <a:ext cx="1353312" cy="658368"/>
          </a:xfrm>
          <a:prstGeom prst="roundRect">
            <a:avLst>
              <a:gd name="adj" fmla="val 13889"/>
            </a:avLst>
          </a:prstGeom>
          <a:solidFill>
            <a:srgbClr val="F2FBFD"/>
          </a:solidFill>
          <a:ln w="15240">
            <a:solidFill>
              <a:srgbClr val="8BD0DF"/>
            </a:solidFill>
            <a:prstDash val="solid"/>
          </a:ln>
          <a:effectLst>
            <a:outerShdw blurRad="12700" dist="50800" dir="2700000" algn="bl" rotWithShape="0">
              <a:srgbClr val="BFDDE5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B06C7C5D-3B10-EBD6-E121-0AD569BCE4C3}"/>
              </a:ext>
            </a:extLst>
          </p:cNvPr>
          <p:cNvSpPr/>
          <p:nvPr/>
        </p:nvSpPr>
        <p:spPr>
          <a:xfrm>
            <a:off x="5650992" y="3666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02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49A04225-5083-36A3-F31D-E5B3870D8323}"/>
              </a:ext>
            </a:extLst>
          </p:cNvPr>
          <p:cNvSpPr/>
          <p:nvPr/>
        </p:nvSpPr>
        <p:spPr>
          <a:xfrm>
            <a:off x="7223760" y="3502152"/>
            <a:ext cx="1353312" cy="658368"/>
          </a:xfrm>
          <a:prstGeom prst="roundRect">
            <a:avLst>
              <a:gd name="adj" fmla="val 13889"/>
            </a:avLst>
          </a:prstGeom>
          <a:solidFill>
            <a:srgbClr val="E3F6FB"/>
          </a:solidFill>
          <a:ln w="15240">
            <a:solidFill>
              <a:srgbClr val="00A2B0"/>
            </a:solidFill>
            <a:prstDash val="solid"/>
          </a:ln>
          <a:effectLst>
            <a:outerShdw blurRad="12700" dist="50800" dir="2700000" algn="bl" rotWithShape="0">
              <a:srgbClr val="BFDDE5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E5760B85-BCAC-1D37-29ED-B24386B5CC69}"/>
              </a:ext>
            </a:extLst>
          </p:cNvPr>
          <p:cNvSpPr/>
          <p:nvPr/>
        </p:nvSpPr>
        <p:spPr>
          <a:xfrm>
            <a:off x="7296912" y="3666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020" dirty="0"/>
          </a:p>
        </p:txBody>
      </p:sp>
      <p:sp>
        <p:nvSpPr>
          <p:cNvPr id="53" name="Shape 23">
            <a:extLst>
              <a:ext uri="{FF2B5EF4-FFF2-40B4-BE49-F238E27FC236}">
                <a16:creationId xmlns:a16="http://schemas.microsoft.com/office/drawing/2014/main" id="{5DF3AA4E-726A-A8BE-D00C-E7B8CD429F99}"/>
              </a:ext>
            </a:extLst>
          </p:cNvPr>
          <p:cNvSpPr/>
          <p:nvPr/>
        </p:nvSpPr>
        <p:spPr>
          <a:xfrm>
            <a:off x="8906256" y="3502152"/>
            <a:ext cx="1353312" cy="658368"/>
          </a:xfrm>
          <a:prstGeom prst="roundRect">
            <a:avLst>
              <a:gd name="adj" fmla="val 13889"/>
            </a:avLst>
          </a:prstGeom>
          <a:solidFill>
            <a:srgbClr val="F2FBFD"/>
          </a:solidFill>
          <a:ln w="15240">
            <a:solidFill>
              <a:srgbClr val="8BD0DF"/>
            </a:solidFill>
            <a:prstDash val="solid"/>
          </a:ln>
          <a:effectLst>
            <a:outerShdw blurRad="12700" dist="50800" dir="2700000" algn="bl" rotWithShape="0">
              <a:srgbClr val="BFDDE5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A1D3BF0D-FE80-0F03-BAA2-AF54B3888E2A}"/>
              </a:ext>
            </a:extLst>
          </p:cNvPr>
          <p:cNvSpPr/>
          <p:nvPr/>
        </p:nvSpPr>
        <p:spPr>
          <a:xfrm>
            <a:off x="8979408" y="3666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</a:t>
            </a:r>
            <a:endParaRPr lang="en-US" sz="102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4A1BF88E-932B-7412-6C7D-7B805A54C9D1}"/>
              </a:ext>
            </a:extLst>
          </p:cNvPr>
          <p:cNvSpPr/>
          <p:nvPr/>
        </p:nvSpPr>
        <p:spPr>
          <a:xfrm>
            <a:off x="10488168" y="3502152"/>
            <a:ext cx="1353312" cy="658368"/>
          </a:xfrm>
          <a:prstGeom prst="roundRect">
            <a:avLst>
              <a:gd name="adj" fmla="val 13889"/>
            </a:avLst>
          </a:prstGeom>
          <a:solidFill>
            <a:srgbClr val="E3F6FB"/>
          </a:solidFill>
          <a:ln w="15240">
            <a:solidFill>
              <a:srgbClr val="00A2B0"/>
            </a:solidFill>
            <a:prstDash val="solid"/>
          </a:ln>
          <a:effectLst>
            <a:outerShdw blurRad="12700" dist="50800" dir="2700000" algn="bl" rotWithShape="0">
              <a:srgbClr val="BFDDE5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3B03659E-56FF-B5FF-E387-A00E24ECF804}"/>
              </a:ext>
            </a:extLst>
          </p:cNvPr>
          <p:cNvSpPr/>
          <p:nvPr/>
        </p:nvSpPr>
        <p:spPr>
          <a:xfrm>
            <a:off x="10561320" y="3666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004E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020" dirty="0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2AB1EA97-F5CE-F963-9522-D39BCFF04DFC}"/>
              </a:ext>
            </a:extLst>
          </p:cNvPr>
          <p:cNvSpPr/>
          <p:nvPr/>
        </p:nvSpPr>
        <p:spPr>
          <a:xfrm>
            <a:off x="969264" y="490118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C62D5245-2A0E-A465-5627-71DC0387529D}"/>
              </a:ext>
            </a:extLst>
          </p:cNvPr>
          <p:cNvSpPr/>
          <p:nvPr/>
        </p:nvSpPr>
        <p:spPr>
          <a:xfrm>
            <a:off x="658368" y="1389888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E44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end-to-end fraud detection workflow that balances model performance and business cost.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820750"/>
              </p:ext>
            </p:extLst>
          </p:nvPr>
        </p:nvGraphicFramePr>
        <p:xfrm>
          <a:off x="822960" y="1481328"/>
          <a:ext cx="4892040" cy="2918460"/>
        </p:xfrm>
        <a:graphic>
          <a:graphicData uri="http://schemas.openxmlformats.org/drawingml/2006/table">
            <a:tbl>
              <a:tblPr/>
              <a:tblGrid>
                <a:gridCol w="2446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Item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Rows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15,420 insurance claims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Original features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 columns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FraudFound_P: 1 = Fraud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= No Fraud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Binary classification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type mix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Mostly categorical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Image 1" descr="/mnt/data/fraud_project/presentacion/info2.png"/>
          <p:cNvPicPr preferRelativeResize="0"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022" y="140677"/>
            <a:ext cx="3487879" cy="6576646"/>
          </a:xfrm>
          <a:prstGeom prst="rect">
            <a:avLst/>
          </a:prstGeom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99940FDE-CD22-9A48-6C8E-9A673E52CA30}"/>
              </a:ext>
            </a:extLst>
          </p:cNvPr>
          <p:cNvSpPr txBox="1"/>
          <p:nvPr/>
        </p:nvSpPr>
        <p:spPr>
          <a:xfrm>
            <a:off x="603504" y="502920"/>
            <a:ext cx="1376339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>
                <a:solidFill>
                  <a:srgbClr val="00848C"/>
                </a:solidFill>
              </a:rPr>
              <a:t>EDA &amp; </a:t>
            </a:r>
            <a:r>
              <a:rPr lang="es-ES" sz="1050" b="1" dirty="0" err="1">
                <a:solidFill>
                  <a:srgbClr val="00848C"/>
                </a:solidFill>
              </a:rPr>
              <a:t>Preprocessing</a:t>
            </a:r>
            <a:endParaRPr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F6FF84E-F981-A7FA-585F-6577B3442CAF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39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3600" dirty="0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224A9373-DCCD-96D7-AEF2-22DFD22212FC}"/>
              </a:ext>
            </a:extLst>
          </p:cNvPr>
          <p:cNvSpPr txBox="1"/>
          <p:nvPr/>
        </p:nvSpPr>
        <p:spPr>
          <a:xfrm>
            <a:off x="822960" y="4655820"/>
            <a:ext cx="5596128" cy="226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70">
                <a:solidFill>
                  <a:srgbClr val="26343C"/>
                </a:solidFill>
              </a:defRPr>
            </a:pPr>
            <a:r>
              <a:rPr lang="en-US" dirty="0"/>
              <a:t>No missing values and no duplicate rows in the raw data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8368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B8"/>
                </a:solidFill>
              </a:rPr>
              <a:t>━</a:t>
            </a:r>
            <a:endParaRPr lang="en-US" sz="1800" dirty="0"/>
          </a:p>
        </p:txBody>
      </p:sp>
      <p:pic>
        <p:nvPicPr>
          <p:cNvPr id="7" name="Image 1" descr="/mnt/data/fraud_project/presentacion/imbalanc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508760"/>
            <a:ext cx="4023360" cy="4023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0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14,497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715000" y="2340864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0444E"/>
                </a:solidFill>
              </a:rPr>
              <a:t>non-fraud claims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0444E"/>
                </a:solidFill>
              </a:rPr>
              <a:t>class 0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366760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923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366760" y="2340864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30444E"/>
                </a:solidFill>
              </a:rPr>
              <a:t>fraud claims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0444E"/>
                </a:solidFill>
              </a:rPr>
              <a:t>class 1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095847" y="3127248"/>
            <a:ext cx="475488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2B36"/>
                </a:solidFill>
              </a:rPr>
              <a:t>The target is heavily imbalanced: most claims are not fraudulent.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72B36"/>
                </a:solidFill>
              </a:rPr>
              <a:t>Fraud represents about 6% of all claims.</a:t>
            </a:r>
            <a:endParaRPr lang="en-US" sz="2000" dirty="0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64658D32-238F-C9C5-CC1C-1FB8A9F6B5F6}"/>
              </a:ext>
            </a:extLst>
          </p:cNvPr>
          <p:cNvSpPr txBox="1"/>
          <p:nvPr/>
        </p:nvSpPr>
        <p:spPr>
          <a:xfrm>
            <a:off x="603504" y="502920"/>
            <a:ext cx="1376339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>
                <a:solidFill>
                  <a:srgbClr val="00848C"/>
                </a:solidFill>
              </a:rPr>
              <a:t>EDA &amp; </a:t>
            </a:r>
            <a:r>
              <a:rPr lang="es-ES" sz="1050" b="1" dirty="0" err="1">
                <a:solidFill>
                  <a:srgbClr val="00848C"/>
                </a:solidFill>
              </a:rPr>
              <a:t>Preprocessing</a:t>
            </a:r>
            <a:endParaRPr sz="1050" b="1" dirty="0">
              <a:solidFill>
                <a:srgbClr val="00848C"/>
              </a:solidFill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B24DE4E-5088-CB14-8AFC-BAB0D5D8DA54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39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</a:t>
            </a:r>
            <a:endParaRPr lang="en-US" sz="36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E3687B52-DB66-46DF-241E-3C4EA2A35043}"/>
              </a:ext>
            </a:extLst>
          </p:cNvPr>
          <p:cNvSpPr/>
          <p:nvPr/>
        </p:nvSpPr>
        <p:spPr>
          <a:xfrm>
            <a:off x="6095847" y="4166253"/>
            <a:ext cx="3576492" cy="3503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b="1" dirty="0"/>
              <a:t>Why accuracy is not enough</a:t>
            </a:r>
            <a:endParaRPr lang="en-US" sz="19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C7BF2F82-2E07-7338-A361-F388C61A146B}"/>
              </a:ext>
            </a:extLst>
          </p:cNvPr>
          <p:cNvSpPr/>
          <p:nvPr/>
        </p:nvSpPr>
        <p:spPr>
          <a:xfrm>
            <a:off x="6095846" y="4579439"/>
            <a:ext cx="4164031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• </a:t>
            </a:r>
            <a:r>
              <a:rPr lang="en-US" sz="1500" dirty="0"/>
              <a:t>Predicting “not fraud” almost always would already be 94% accurate.
</a:t>
            </a:r>
            <a:r>
              <a:rPr lang="en-US" sz="1500" b="1" dirty="0"/>
              <a:t>• </a:t>
            </a:r>
            <a:r>
              <a:rPr lang="en-US" sz="1500" dirty="0"/>
              <a:t>But that would fail the business goal.
</a:t>
            </a:r>
            <a:r>
              <a:rPr lang="en-US" sz="1500" b="1" dirty="0"/>
              <a:t>• </a:t>
            </a:r>
            <a:r>
              <a:rPr lang="en-US" sz="1500" dirty="0"/>
              <a:t>So </a:t>
            </a:r>
            <a:r>
              <a:rPr lang="en-US" sz="1500" b="1" dirty="0"/>
              <a:t>recall</a:t>
            </a:r>
            <a:r>
              <a:rPr lang="en-US" sz="1500" dirty="0"/>
              <a:t> for class 1 became the primary metric.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BBDDB184-559B-C927-7D71-A6A85918B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51FFC350-A7A4-F3A1-9C93-5FFA614F4533}"/>
              </a:ext>
            </a:extLst>
          </p:cNvPr>
          <p:cNvSpPr txBox="1"/>
          <p:nvPr/>
        </p:nvSpPr>
        <p:spPr>
          <a:xfrm>
            <a:off x="603504" y="502920"/>
            <a:ext cx="1376339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>
                <a:solidFill>
                  <a:srgbClr val="00848C"/>
                </a:solidFill>
              </a:rPr>
              <a:t>EDA &amp; </a:t>
            </a:r>
            <a:r>
              <a:rPr lang="es-ES" sz="1050" b="1" dirty="0" err="1">
                <a:solidFill>
                  <a:srgbClr val="00848C"/>
                </a:solidFill>
              </a:rPr>
              <a:t>Preprocessing</a:t>
            </a:r>
            <a:endParaRPr sz="1050" b="1" dirty="0">
              <a:solidFill>
                <a:srgbClr val="00848C"/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C42852E7-4078-7614-CB49-DDBC2EFE360A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393D"/>
                </a:solidFill>
                <a:latin typeface="Aptos Display" pitchFamily="34" charset="0"/>
              </a:rPr>
              <a:t>Preprocessing</a:t>
            </a:r>
            <a:endParaRPr lang="en-US" sz="36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01C22AFC-6014-31E8-EA32-254E54E21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215475"/>
              </p:ext>
            </p:extLst>
          </p:nvPr>
        </p:nvGraphicFramePr>
        <p:xfrm>
          <a:off x="917213" y="1909591"/>
          <a:ext cx="5715000" cy="292608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Treatment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Numeric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Age, Year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distribution, outliers, scaling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Binary categorical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Sex, Fault, AccidentArea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charset="0"/>
                          <a:cs typeface="Aptos" charset="0"/>
                        </a:rPr>
                        <a:t>Label Encoding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Multi-class categorical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Make, </a:t>
                      </a:r>
                      <a:r>
                        <a:rPr lang="en-US" sz="1300" dirty="0" err="1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BasePolicy</a:t>
                      </a: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, 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Marital Status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Hot Encoding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latin typeface="Aptos" charset="0"/>
                          <a:ea typeface="Aptos" charset="0"/>
                          <a:cs typeface="Aptos" charset="0"/>
                        </a:rPr>
                        <a:t>Identifier only, noise, unnecessary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latin typeface="Aptos" charset="0"/>
                          <a:ea typeface="Aptos" charset="0"/>
                          <a:cs typeface="Aptos" charset="0"/>
                        </a:rPr>
                        <a:t>Jan, Feb, Mar</a:t>
                      </a: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charset="0"/>
                          <a:cs typeface="Aptos" charset="0"/>
                        </a:rPr>
                        <a:t>Drop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Image 2" descr="/mnt/data/fraud_project/presentacion/onehotencod1.png">
            <a:extLst>
              <a:ext uri="{FF2B5EF4-FFF2-40B4-BE49-F238E27FC236}">
                <a16:creationId xmlns:a16="http://schemas.microsoft.com/office/drawing/2014/main" id="{D5DC0F14-B969-2895-D69B-630A42505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212" y="3619519"/>
            <a:ext cx="2639378" cy="155448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F78CDD0-0275-726F-FF75-710057C86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212" y="1984984"/>
            <a:ext cx="2203998" cy="1339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32AA0BE-3F62-2B9B-B80B-58C15B14CFC2}"/>
              </a:ext>
            </a:extLst>
          </p:cNvPr>
          <p:cNvSpPr txBox="1"/>
          <p:nvPr/>
        </p:nvSpPr>
        <p:spPr>
          <a:xfrm>
            <a:off x="603504" y="502920"/>
            <a:ext cx="1376339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>
                <a:solidFill>
                  <a:srgbClr val="00848C"/>
                </a:solidFill>
              </a:rPr>
              <a:t>EDA &amp; </a:t>
            </a:r>
            <a:r>
              <a:rPr lang="es-ES" sz="1050" b="1" dirty="0" err="1">
                <a:solidFill>
                  <a:srgbClr val="00848C"/>
                </a:solidFill>
              </a:rPr>
              <a:t>Preprocessing</a:t>
            </a:r>
            <a:endParaRPr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CBD0BF7-2CAB-D33D-3D3D-B3328ADA89C1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393D"/>
                </a:solidFill>
                <a:latin typeface="Aptos Display" pitchFamily="34" charset="0"/>
              </a:rPr>
              <a:t>Univariate Analysis - Age</a:t>
            </a:r>
            <a:endParaRPr lang="en-US" sz="3600" dirty="0"/>
          </a:p>
        </p:txBody>
      </p:sp>
      <p:pic>
        <p:nvPicPr>
          <p:cNvPr id="15" name="Image 3" descr="/mnt/data/fraud_project/presentacion/chart_age.png">
            <a:extLst>
              <a:ext uri="{FF2B5EF4-FFF2-40B4-BE49-F238E27FC236}">
                <a16:creationId xmlns:a16="http://schemas.microsoft.com/office/drawing/2014/main" id="{BEECA731-5D76-7DCA-F390-29E205667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29866"/>
            <a:ext cx="4764906" cy="3800181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64FF756C-B72A-50A1-7A25-F399C310D726}"/>
              </a:ext>
            </a:extLst>
          </p:cNvPr>
          <p:cNvSpPr/>
          <p:nvPr/>
        </p:nvSpPr>
        <p:spPr>
          <a:xfrm>
            <a:off x="5918803" y="502920"/>
            <a:ext cx="5120640" cy="4114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 err="1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AgeOfPolicyHolder</a:t>
            </a: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was removed because it duplicates the information in 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= 0 appeared in 320 claims, including 31 fraud cases. </a:t>
            </a:r>
            <a:r>
              <a:rPr lang="en-US" dirty="0">
                <a:solidFill>
                  <a:srgbClr val="071B2C"/>
                </a:solidFill>
              </a:rPr>
              <a:t>Not a real age; imputed with median. Dropping these rows could remove useful minority-class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71B2C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Median imputation was chosen because it is more robust to outliers.</a:t>
            </a:r>
          </a:p>
        </p:txBody>
      </p:sp>
      <p:pic>
        <p:nvPicPr>
          <p:cNvPr id="21" name="Image 2" descr="/mnt/data/fraud_project/presentacion/boxp_age.png">
            <a:extLst>
              <a:ext uri="{FF2B5EF4-FFF2-40B4-BE49-F238E27FC236}">
                <a16:creationId xmlns:a16="http://schemas.microsoft.com/office/drawing/2014/main" id="{5CF6CB8D-D5D1-57E9-0675-88D5AC0EE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125" y="4186318"/>
            <a:ext cx="3566160" cy="21651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BB734-8214-DAA3-C10B-31EE43F64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5C62490F-DC43-8C91-84CC-F22B90686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BEEE431-D6D2-B19A-25AE-12E52EC2A6E9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D15DD4-7B9A-8968-35A6-D840E0C5CA0F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FAAF096-19FB-153B-05F1-8438E0E855C0}"/>
              </a:ext>
            </a:extLst>
          </p:cNvPr>
          <p:cNvSpPr txBox="1"/>
          <p:nvPr/>
        </p:nvSpPr>
        <p:spPr>
          <a:xfrm>
            <a:off x="603504" y="502920"/>
            <a:ext cx="1376339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>
                <a:solidFill>
                  <a:srgbClr val="00848C"/>
                </a:solidFill>
              </a:rPr>
              <a:t>EDA &amp; </a:t>
            </a:r>
            <a:r>
              <a:rPr lang="es-ES" sz="1050" b="1" dirty="0" err="1">
                <a:solidFill>
                  <a:srgbClr val="00848C"/>
                </a:solidFill>
              </a:rPr>
              <a:t>Preprocessing</a:t>
            </a:r>
            <a:endParaRPr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B2B986A4-7BAF-1576-7E72-A47205F8B5C0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393D"/>
                </a:solidFill>
                <a:latin typeface="Aptos Display" pitchFamily="34" charset="0"/>
              </a:rPr>
              <a:t>Univariate Analysis - Make (Brand)</a:t>
            </a:r>
            <a:endParaRPr lang="en-US" sz="3600" dirty="0"/>
          </a:p>
        </p:txBody>
      </p:sp>
      <p:pic>
        <p:nvPicPr>
          <p:cNvPr id="6" name="Image 1" descr="/mnt/data/fraud_project/presentacion/chart_make2.png">
            <a:extLst>
              <a:ext uri="{FF2B5EF4-FFF2-40B4-BE49-F238E27FC236}">
                <a16:creationId xmlns:a16="http://schemas.microsoft.com/office/drawing/2014/main" id="{E3E4F63E-C788-9F84-E55C-3F7EA80EC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86" y="1759399"/>
            <a:ext cx="4096636" cy="3564792"/>
          </a:xfrm>
          <a:prstGeom prst="rect">
            <a:avLst/>
          </a:prstGeom>
        </p:spPr>
      </p:pic>
      <p:pic>
        <p:nvPicPr>
          <p:cNvPr id="8" name="Image 3" descr="/mnt/data/fraud_project/presentacion/chart_make1.png">
            <a:extLst>
              <a:ext uri="{FF2B5EF4-FFF2-40B4-BE49-F238E27FC236}">
                <a16:creationId xmlns:a16="http://schemas.microsoft.com/office/drawing/2014/main" id="{8476BE66-D34B-4DDD-44A1-CAD20D5CF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380" y="1765631"/>
            <a:ext cx="4096635" cy="3552327"/>
          </a:xfrm>
          <a:prstGeom prst="rect">
            <a:avLst/>
          </a:prstGeom>
        </p:spPr>
      </p:pic>
      <p:pic>
        <p:nvPicPr>
          <p:cNvPr id="10" name="Image 2" descr="/mnt/data/fraud_project/presentacion/chart_make3.png">
            <a:extLst>
              <a:ext uri="{FF2B5EF4-FFF2-40B4-BE49-F238E27FC236}">
                <a16:creationId xmlns:a16="http://schemas.microsoft.com/office/drawing/2014/main" id="{79D4EA04-C975-CAB4-B041-BC59A6404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2561" y="1432822"/>
            <a:ext cx="3126880" cy="3992356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3ABE822D-54F5-D30D-B45F-ED84F24697F1}"/>
              </a:ext>
            </a:extLst>
          </p:cNvPr>
          <p:cNvSpPr/>
          <p:nvPr/>
        </p:nvSpPr>
        <p:spPr>
          <a:xfrm>
            <a:off x="952347" y="5662101"/>
            <a:ext cx="10287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36"/>
                </a:solidFill>
              </a:rPr>
              <a:t>A high fraud rate is not automatically a reliable finding when the category has very few claims. 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172B36"/>
                </a:solidFill>
              </a:rPr>
              <a:t>In a business setting, this should trigger review, not blind automation.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39541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9A01D-11C8-AAF3-B482-04A207E6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85A95925-49BD-A97E-4E45-F2AA2089B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BCA0F9D-449F-7DFD-9C6A-75D65299611A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6CD671A-B5B8-94EF-60A1-033CC0030C5A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C91BCC2-1F22-6E3A-DB45-E30ABA9D0F9A}"/>
              </a:ext>
            </a:extLst>
          </p:cNvPr>
          <p:cNvSpPr txBox="1"/>
          <p:nvPr/>
        </p:nvSpPr>
        <p:spPr>
          <a:xfrm>
            <a:off x="603504" y="502920"/>
            <a:ext cx="1376339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>
                <a:solidFill>
                  <a:srgbClr val="00848C"/>
                </a:solidFill>
              </a:rPr>
              <a:t>EDA &amp; </a:t>
            </a:r>
            <a:r>
              <a:rPr lang="es-ES" sz="1050" b="1" dirty="0" err="1">
                <a:solidFill>
                  <a:srgbClr val="00848C"/>
                </a:solidFill>
              </a:rPr>
              <a:t>Preprocessing</a:t>
            </a:r>
            <a:endParaRPr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C5BCC952-0E36-A1A5-29CA-6DAF8AA95644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393D"/>
                </a:solidFill>
                <a:latin typeface="Aptos Display" pitchFamily="34" charset="0"/>
              </a:rPr>
              <a:t>Bivariate Analysis - </a:t>
            </a:r>
            <a:r>
              <a:rPr lang="en-US" sz="3600" b="1" dirty="0" err="1">
                <a:solidFill>
                  <a:srgbClr val="00393D"/>
                </a:solidFill>
                <a:latin typeface="Aptos Display" pitchFamily="34" charset="0"/>
              </a:rPr>
              <a:t>BasePolicy</a:t>
            </a:r>
            <a:r>
              <a:rPr lang="en-US" sz="3600" b="1" dirty="0">
                <a:solidFill>
                  <a:srgbClr val="00393D"/>
                </a:solidFill>
                <a:latin typeface="Aptos Display" pitchFamily="34" charset="0"/>
              </a:rPr>
              <a:t> vs </a:t>
            </a:r>
            <a:r>
              <a:rPr lang="en-US" sz="3600" b="1" dirty="0" err="1">
                <a:solidFill>
                  <a:srgbClr val="00393D"/>
                </a:solidFill>
                <a:latin typeface="Aptos Display" pitchFamily="34" charset="0"/>
              </a:rPr>
              <a:t>PolicyType</a:t>
            </a:r>
            <a:endParaRPr lang="en-US" sz="3600" dirty="0"/>
          </a:p>
        </p:txBody>
      </p:sp>
      <p:pic>
        <p:nvPicPr>
          <p:cNvPr id="6" name="Image 1" descr="/mnt/data/fraud_project/presentacion/chi2_1.png">
            <a:extLst>
              <a:ext uri="{FF2B5EF4-FFF2-40B4-BE49-F238E27FC236}">
                <a16:creationId xmlns:a16="http://schemas.microsoft.com/office/drawing/2014/main" id="{5AC63FB3-A962-7CBA-2F39-A3248C263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614" y="1709501"/>
            <a:ext cx="3714652" cy="4434840"/>
          </a:xfrm>
          <a:prstGeom prst="rect">
            <a:avLst/>
          </a:prstGeom>
        </p:spPr>
      </p:pic>
      <p:pic>
        <p:nvPicPr>
          <p:cNvPr id="8" name="Image 2" descr="/mnt/data/fraud_project/presentacion/cramer_0.png">
            <a:extLst>
              <a:ext uri="{FF2B5EF4-FFF2-40B4-BE49-F238E27FC236}">
                <a16:creationId xmlns:a16="http://schemas.microsoft.com/office/drawing/2014/main" id="{2C945822-955E-BF57-BB33-76E0522C4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668780"/>
            <a:ext cx="4758146" cy="2148840"/>
          </a:xfrm>
          <a:prstGeom prst="rect">
            <a:avLst/>
          </a:prstGeom>
        </p:spPr>
      </p:pic>
      <p:pic>
        <p:nvPicPr>
          <p:cNvPr id="10" name="Image 3" descr="/mnt/data/fraud_project/presentacion/cramer_1.png">
            <a:extLst>
              <a:ext uri="{FF2B5EF4-FFF2-40B4-BE49-F238E27FC236}">
                <a16:creationId xmlns:a16="http://schemas.microsoft.com/office/drawing/2014/main" id="{159F0FBC-36E5-E1D3-1E4A-528499BD74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924559"/>
            <a:ext cx="5397789" cy="93505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F264B42-FB11-1640-81A1-B328D7C1D4BE}"/>
              </a:ext>
            </a:extLst>
          </p:cNvPr>
          <p:cNvSpPr txBox="1"/>
          <p:nvPr/>
        </p:nvSpPr>
        <p:spPr>
          <a:xfrm>
            <a:off x="5532120" y="5114131"/>
            <a:ext cx="6207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071B2C"/>
                </a:solidFill>
              </a:rPr>
              <a:t>PolicyType</a:t>
            </a:r>
            <a:r>
              <a:rPr lang="en-US" sz="1400" dirty="0">
                <a:solidFill>
                  <a:srgbClr val="071B2C"/>
                </a:solidFill>
              </a:rPr>
              <a:t> - Strong overlap with </a:t>
            </a:r>
            <a:r>
              <a:rPr lang="en-US" sz="1400" dirty="0" err="1">
                <a:solidFill>
                  <a:srgbClr val="071B2C"/>
                </a:solidFill>
              </a:rPr>
              <a:t>BasePolicy</a:t>
            </a:r>
            <a:r>
              <a:rPr lang="en-US" sz="1400" dirty="0">
                <a:solidFill>
                  <a:srgbClr val="071B2C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71B2C"/>
                </a:solidFill>
              </a:rPr>
              <a:t>Final decision: drop</a:t>
            </a:r>
            <a:endParaRPr lang="en-US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E877ED2-C5EA-9AA0-D09C-E817D1D97342}"/>
              </a:ext>
            </a:extLst>
          </p:cNvPr>
          <p:cNvSpPr txBox="1"/>
          <p:nvPr/>
        </p:nvSpPr>
        <p:spPr>
          <a:xfrm>
            <a:off x="1072484" y="1377466"/>
            <a:ext cx="3053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Chi-Square Test</a:t>
            </a:r>
          </a:p>
        </p:txBody>
      </p:sp>
    </p:spTree>
    <p:extLst>
      <p:ext uri="{BB962C8B-B14F-4D97-AF65-F5344CB8AC3E}">
        <p14:creationId xmlns:p14="http://schemas.microsoft.com/office/powerpoint/2010/main" val="3202582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D022-DC23-85AD-F097-E56CE8794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0D09A0E6-ED74-C16E-0E4E-2642F493D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287119D-2ACA-B2E1-7DF9-1D0121B9380F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5BC9B0E-481F-A044-5FED-A72315BD2922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0CB5C730-3711-901F-DBBD-A94B6F451C42}"/>
              </a:ext>
            </a:extLst>
          </p:cNvPr>
          <p:cNvSpPr txBox="1"/>
          <p:nvPr/>
        </p:nvSpPr>
        <p:spPr>
          <a:xfrm>
            <a:off x="603504" y="502920"/>
            <a:ext cx="2157001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Modeling</a:t>
            </a:r>
            <a:r>
              <a:rPr lang="es-ES" sz="1050" b="1" dirty="0">
                <a:solidFill>
                  <a:srgbClr val="00848C"/>
                </a:solidFill>
              </a:rPr>
              <a:t>, </a:t>
            </a:r>
            <a:r>
              <a:rPr lang="es-ES" sz="1050" b="1" dirty="0" err="1">
                <a:solidFill>
                  <a:srgbClr val="00848C"/>
                </a:solidFill>
              </a:rPr>
              <a:t>Prediction</a:t>
            </a:r>
            <a:r>
              <a:rPr lang="es-ES" sz="1050" b="1" dirty="0">
                <a:solidFill>
                  <a:srgbClr val="00848C"/>
                </a:solidFill>
              </a:rPr>
              <a:t> &amp; </a:t>
            </a:r>
            <a:r>
              <a:rPr lang="es-ES" sz="1050" b="1" dirty="0" err="1">
                <a:solidFill>
                  <a:srgbClr val="00848C"/>
                </a:solidFill>
              </a:rPr>
              <a:t>Evaluation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ACBD259F-C58B-DCAE-B217-8A4E3D9D2593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roadmap</a:t>
            </a:r>
            <a:endParaRPr lang="en-US" sz="3600" dirty="0"/>
          </a:p>
        </p:txBody>
      </p:sp>
      <p:pic>
        <p:nvPicPr>
          <p:cNvPr id="6" name="Image 1" descr="/mnt/data/fraud_project/presentacion/models.png">
            <a:extLst>
              <a:ext uri="{FF2B5EF4-FFF2-40B4-BE49-F238E27FC236}">
                <a16:creationId xmlns:a16="http://schemas.microsoft.com/office/drawing/2014/main" id="{83EB8848-411D-2F78-1219-D8FC27FED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15" y="1417320"/>
            <a:ext cx="3496089" cy="306324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3458C70F-7CD4-4CCB-BA89-BE59FB0EFCE2}"/>
              </a:ext>
            </a:extLst>
          </p:cNvPr>
          <p:cNvSpPr/>
          <p:nvPr/>
        </p:nvSpPr>
        <p:spPr>
          <a:xfrm>
            <a:off x="1051560" y="5074920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B36"/>
                </a:solidFill>
              </a:rPr>
              <a:t>The story is not “which model wins by accuracy?” but “which model catches fraud with an acceptable operational cost?”</a:t>
            </a:r>
            <a:endParaRPr lang="en-US" sz="18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4BD23078-9D8D-4B15-7360-CCD988984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749557"/>
              </p:ext>
            </p:extLst>
          </p:nvPr>
        </p:nvGraphicFramePr>
        <p:xfrm>
          <a:off x="5074920" y="1417320"/>
          <a:ext cx="5760720" cy="292608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Scenario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 Default models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Establish a baseline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 Class weight balanced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 fraud recall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 Randomized Search CV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Tune hyperparameters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 Top features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Simplify and explain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3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B55B2-165E-9AF3-F6D0-2E5CBD11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CCA9FE58-3201-9225-222B-EAB01C60C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E1FCCA5-EC6A-DBB0-3FE8-B409055E3584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1B24A3F-6256-C374-F32B-04ECA9E9B0CD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5521A994-4DC9-DD87-3FDA-3E18A9976CCA}"/>
              </a:ext>
            </a:extLst>
          </p:cNvPr>
          <p:cNvSpPr txBox="1"/>
          <p:nvPr/>
        </p:nvSpPr>
        <p:spPr>
          <a:xfrm>
            <a:off x="603504" y="502920"/>
            <a:ext cx="2157001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Modeling</a:t>
            </a:r>
            <a:r>
              <a:rPr lang="es-ES" sz="1050" b="1" dirty="0">
                <a:solidFill>
                  <a:srgbClr val="00848C"/>
                </a:solidFill>
              </a:rPr>
              <a:t>, </a:t>
            </a:r>
            <a:r>
              <a:rPr lang="es-ES" sz="1050" b="1" dirty="0" err="1">
                <a:solidFill>
                  <a:srgbClr val="00848C"/>
                </a:solidFill>
              </a:rPr>
              <a:t>Prediction</a:t>
            </a:r>
            <a:r>
              <a:rPr lang="es-ES" sz="1050" b="1" dirty="0">
                <a:solidFill>
                  <a:srgbClr val="00848C"/>
                </a:solidFill>
              </a:rPr>
              <a:t> &amp; </a:t>
            </a:r>
            <a:r>
              <a:rPr lang="es-ES" sz="1050" b="1" dirty="0" err="1">
                <a:solidFill>
                  <a:srgbClr val="00848C"/>
                </a:solidFill>
              </a:rPr>
              <a:t>Evaluation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9F0DD06C-6538-036D-B1DF-E16F4531C478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strategy</a:t>
            </a:r>
            <a:endParaRPr lang="en-US" sz="3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93889B-95AF-EF14-6AFC-7B2AD4491282}"/>
              </a:ext>
            </a:extLst>
          </p:cNvPr>
          <p:cNvSpPr/>
          <p:nvPr/>
        </p:nvSpPr>
        <p:spPr>
          <a:xfrm>
            <a:off x="868680" y="1993237"/>
            <a:ext cx="4800600" cy="2194560"/>
          </a:xfrm>
          <a:prstGeom prst="rect">
            <a:avLst/>
          </a:prstGeom>
          <a:solidFill>
            <a:srgbClr val="FFF6F5"/>
          </a:solidFill>
          <a:ln>
            <a:solidFill>
              <a:srgbClr val="FFD8D4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Negative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says “No Fraud” but the claim is actually fraudulent.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6B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cost → prioritize recall.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B65C940-451F-34AA-A3F3-CCB7BE13495B}"/>
              </a:ext>
            </a:extLst>
          </p:cNvPr>
          <p:cNvSpPr/>
          <p:nvPr/>
        </p:nvSpPr>
        <p:spPr>
          <a:xfrm>
            <a:off x="6446520" y="1993237"/>
            <a:ext cx="4800600" cy="2194560"/>
          </a:xfrm>
          <a:prstGeom prst="rect">
            <a:avLst/>
          </a:prstGeom>
          <a:solidFill>
            <a:srgbClr val="EAF9FC"/>
          </a:solidFill>
          <a:ln>
            <a:solidFill>
              <a:srgbClr val="B8E8EF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says “Fraud” but the claim is legitimate.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cost → manage with precision and threshold.</a:t>
            </a:r>
            <a:endParaRPr lang="en-US" sz="18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A5BBFEE-485D-973A-DDA6-2AE8EF7CA595}"/>
              </a:ext>
            </a:extLst>
          </p:cNvPr>
          <p:cNvSpPr/>
          <p:nvPr/>
        </p:nvSpPr>
        <p:spPr>
          <a:xfrm>
            <a:off x="1188720" y="5047410"/>
            <a:ext cx="9784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B36"/>
                </a:solidFill>
              </a:rPr>
              <a:t>Primary metric: fraud-class recall. Secondary metrics: precision and F1 score.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220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D34FA-CE0D-A9E8-0FF7-162232CD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79C543D3-4606-AA57-3FEC-C53D5C5A8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F3E0714-AD1F-5FCB-E422-2BF89F1D23E3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1E87A0-08ED-2FF2-040B-D6B9BBFF4CBF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D89A1EBB-EE87-F66E-A4EB-D710EBECF54B}"/>
              </a:ext>
            </a:extLst>
          </p:cNvPr>
          <p:cNvSpPr txBox="1"/>
          <p:nvPr/>
        </p:nvSpPr>
        <p:spPr>
          <a:xfrm>
            <a:off x="603504" y="502920"/>
            <a:ext cx="2157001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Modeling</a:t>
            </a:r>
            <a:r>
              <a:rPr lang="es-ES" sz="1050" b="1" dirty="0">
                <a:solidFill>
                  <a:srgbClr val="00848C"/>
                </a:solidFill>
              </a:rPr>
              <a:t>, </a:t>
            </a:r>
            <a:r>
              <a:rPr lang="es-ES" sz="1050" b="1" dirty="0" err="1">
                <a:solidFill>
                  <a:srgbClr val="00848C"/>
                </a:solidFill>
              </a:rPr>
              <a:t>Prediction</a:t>
            </a:r>
            <a:r>
              <a:rPr lang="es-ES" sz="1050" b="1" dirty="0">
                <a:solidFill>
                  <a:srgbClr val="00848C"/>
                </a:solidFill>
              </a:rPr>
              <a:t> &amp; </a:t>
            </a:r>
            <a:r>
              <a:rPr lang="es-ES" sz="1050" b="1" dirty="0" err="1">
                <a:solidFill>
                  <a:srgbClr val="00848C"/>
                </a:solidFill>
              </a:rPr>
              <a:t>Evaluation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156040E6-2DDB-EFF6-5BF3-6FC170855F8C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1 — Default algorithms</a:t>
            </a:r>
            <a:endParaRPr lang="en-US" sz="3600" dirty="0"/>
          </a:p>
        </p:txBody>
      </p:sp>
      <p:pic>
        <p:nvPicPr>
          <p:cNvPr id="6" name="Image 1" descr="/mnt/data/fraud_project/presentacion/results_default2.png">
            <a:extLst>
              <a:ext uri="{FF2B5EF4-FFF2-40B4-BE49-F238E27FC236}">
                <a16:creationId xmlns:a16="http://schemas.microsoft.com/office/drawing/2014/main" id="{CDDA1BF2-C3DB-B75F-9268-9ACDBA03F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696" y="1874520"/>
            <a:ext cx="5560224" cy="3611880"/>
          </a:xfrm>
          <a:prstGeom prst="rect">
            <a:avLst/>
          </a:prstGeom>
        </p:spPr>
      </p:pic>
      <p:pic>
        <p:nvPicPr>
          <p:cNvPr id="8" name="Image 2" descr="/mnt/data/fraud_project/presentacion/results_default.png">
            <a:extLst>
              <a:ext uri="{FF2B5EF4-FFF2-40B4-BE49-F238E27FC236}">
                <a16:creationId xmlns:a16="http://schemas.microsoft.com/office/drawing/2014/main" id="{0B3AC929-A6CA-DE8F-63BB-E44EC25B6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036" y="2084832"/>
            <a:ext cx="3617945" cy="2148840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504E91C6-5E68-A4EA-83D9-93FBE221C2D2}"/>
              </a:ext>
            </a:extLst>
          </p:cNvPr>
          <p:cNvSpPr/>
          <p:nvPr/>
        </p:nvSpPr>
        <p:spPr>
          <a:xfrm>
            <a:off x="7012208" y="4617720"/>
            <a:ext cx="365760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imbalance handling, most models produced very low fraud recall.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13145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DD45-46BC-4443-85AC-61DF07B3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D6DF82AC-6063-0E9D-7ACC-8F53D5B9D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10F88F4-53B9-1EEA-BF52-AAEEF6E42A8B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7E8C0BF-53C3-A524-0A19-CA3FE32590D6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9D2AAD13-572D-A148-7E42-E77B82F2C119}"/>
              </a:ext>
            </a:extLst>
          </p:cNvPr>
          <p:cNvSpPr txBox="1"/>
          <p:nvPr/>
        </p:nvSpPr>
        <p:spPr>
          <a:xfrm>
            <a:off x="603504" y="502920"/>
            <a:ext cx="2157001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Modeling</a:t>
            </a:r>
            <a:r>
              <a:rPr lang="es-ES" sz="1050" b="1" dirty="0">
                <a:solidFill>
                  <a:srgbClr val="00848C"/>
                </a:solidFill>
              </a:rPr>
              <a:t>, </a:t>
            </a:r>
            <a:r>
              <a:rPr lang="es-ES" sz="1050" b="1" dirty="0" err="1">
                <a:solidFill>
                  <a:srgbClr val="00848C"/>
                </a:solidFill>
              </a:rPr>
              <a:t>Prediction</a:t>
            </a:r>
            <a:r>
              <a:rPr lang="es-ES" sz="1050" b="1" dirty="0">
                <a:solidFill>
                  <a:srgbClr val="00848C"/>
                </a:solidFill>
              </a:rPr>
              <a:t> &amp; </a:t>
            </a:r>
            <a:r>
              <a:rPr lang="es-ES" sz="1050" b="1" dirty="0" err="1">
                <a:solidFill>
                  <a:srgbClr val="00848C"/>
                </a:solidFill>
              </a:rPr>
              <a:t>Evaluation</a:t>
            </a:r>
            <a:endParaRPr lang="es-ES" sz="1050" b="1" dirty="0">
              <a:solidFill>
                <a:srgbClr val="00848C"/>
              </a:solidFill>
            </a:endParaRPr>
          </a:p>
        </p:txBody>
      </p:sp>
      <p:pic>
        <p:nvPicPr>
          <p:cNvPr id="7" name="Image 1" descr="/mnt/data/fraud_project/presentacion/results_classw2.png">
            <a:extLst>
              <a:ext uri="{FF2B5EF4-FFF2-40B4-BE49-F238E27FC236}">
                <a16:creationId xmlns:a16="http://schemas.microsoft.com/office/drawing/2014/main" id="{ADEE681E-5892-7BD8-3035-930F1CC1EF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874520"/>
            <a:ext cx="5577840" cy="3623323"/>
          </a:xfrm>
          <a:prstGeom prst="rect">
            <a:avLst/>
          </a:prstGeom>
        </p:spPr>
      </p:pic>
      <p:pic>
        <p:nvPicPr>
          <p:cNvPr id="12" name="Image 2" descr="/mnt/data/fraud_project/presentacion/results_classw1.png">
            <a:extLst>
              <a:ext uri="{FF2B5EF4-FFF2-40B4-BE49-F238E27FC236}">
                <a16:creationId xmlns:a16="http://schemas.microsoft.com/office/drawing/2014/main" id="{9CEFEE9C-02D9-A075-C242-C52E88BD1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639" y="2028885"/>
            <a:ext cx="3569710" cy="2120192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88B023F1-08BC-D911-BAED-CE645A99F7AA}"/>
              </a:ext>
            </a:extLst>
          </p:cNvPr>
          <p:cNvSpPr/>
          <p:nvPr/>
        </p:nvSpPr>
        <p:spPr>
          <a:xfrm>
            <a:off x="6949440" y="4334256"/>
            <a:ext cx="3749040" cy="49377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647783"/>
                </a:solidFill>
              </a:rPr>
              <a:t>Logistic Regression, LightGBM and Random Forest became strong recall candidates.</a:t>
            </a:r>
            <a:endParaRPr lang="en-US" sz="1150" dirty="0"/>
          </a:p>
        </p:txBody>
      </p:sp>
      <p:pic>
        <p:nvPicPr>
          <p:cNvPr id="17" name="Image 2" descr="/mnt/data/fraud_project/presentacion/results_classw0.png">
            <a:extLst>
              <a:ext uri="{FF2B5EF4-FFF2-40B4-BE49-F238E27FC236}">
                <a16:creationId xmlns:a16="http://schemas.microsoft.com/office/drawing/2014/main" id="{130BF510-B1F8-EF4C-020D-80D1351E8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078" y="798009"/>
            <a:ext cx="3749040" cy="374904"/>
          </a:xfrm>
          <a:prstGeom prst="rect">
            <a:avLst/>
          </a:prstGeom>
        </p:spPr>
      </p:pic>
      <p:sp>
        <p:nvSpPr>
          <p:cNvPr id="21" name="Text 2">
            <a:extLst>
              <a:ext uri="{FF2B5EF4-FFF2-40B4-BE49-F238E27FC236}">
                <a16:creationId xmlns:a16="http://schemas.microsoft.com/office/drawing/2014/main" id="{6D9BB001-24A9-5256-3E14-627D1C18706C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2 — Hyperparameter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83546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5192-274B-C873-B3DD-B4560888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53208B5D-0730-335D-BF29-70EFFCAD8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243DE1E-00C0-4D51-48B0-C9634E5E5DF6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8DE8560-1331-85EF-BDEC-3EE2AF2C7E4A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66DABC7-09E3-7FAC-032A-5029C85906E5}"/>
              </a:ext>
            </a:extLst>
          </p:cNvPr>
          <p:cNvSpPr txBox="1"/>
          <p:nvPr/>
        </p:nvSpPr>
        <p:spPr>
          <a:xfrm>
            <a:off x="603504" y="502920"/>
            <a:ext cx="2157001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Modeling</a:t>
            </a:r>
            <a:r>
              <a:rPr lang="es-ES" sz="1050" b="1" dirty="0">
                <a:solidFill>
                  <a:srgbClr val="00848C"/>
                </a:solidFill>
              </a:rPr>
              <a:t>, </a:t>
            </a:r>
            <a:r>
              <a:rPr lang="es-ES" sz="1050" b="1" dirty="0" err="1">
                <a:solidFill>
                  <a:srgbClr val="00848C"/>
                </a:solidFill>
              </a:rPr>
              <a:t>Prediction</a:t>
            </a:r>
            <a:r>
              <a:rPr lang="es-ES" sz="1050" b="1" dirty="0">
                <a:solidFill>
                  <a:srgbClr val="00848C"/>
                </a:solidFill>
              </a:rPr>
              <a:t> &amp; </a:t>
            </a:r>
            <a:r>
              <a:rPr lang="es-ES" sz="1050" b="1" dirty="0" err="1">
                <a:solidFill>
                  <a:srgbClr val="00848C"/>
                </a:solidFill>
              </a:rPr>
              <a:t>Evaluation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7677A33-8B87-575B-AB89-7C01EAEB67E9}"/>
              </a:ext>
            </a:extLst>
          </p:cNvPr>
          <p:cNvSpPr/>
          <p:nvPr/>
        </p:nvSpPr>
        <p:spPr>
          <a:xfrm>
            <a:off x="658367" y="731520"/>
            <a:ext cx="10159449" cy="43590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33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3 — Randomized Search Cross-Validation</a:t>
            </a:r>
            <a:endParaRPr lang="en-US" sz="3300" dirty="0"/>
          </a:p>
        </p:txBody>
      </p:sp>
      <p:pic>
        <p:nvPicPr>
          <p:cNvPr id="6" name="Image 1" descr="/mnt/data/fraud_project/presentacion/results_cv4.png">
            <a:extLst>
              <a:ext uri="{FF2B5EF4-FFF2-40B4-BE49-F238E27FC236}">
                <a16:creationId xmlns:a16="http://schemas.microsoft.com/office/drawing/2014/main" id="{48795A50-9649-05C7-1A12-9DC998913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1847109"/>
            <a:ext cx="5715000" cy="3712421"/>
          </a:xfrm>
          <a:prstGeom prst="rect">
            <a:avLst/>
          </a:prstGeom>
        </p:spPr>
      </p:pic>
      <p:pic>
        <p:nvPicPr>
          <p:cNvPr id="8" name="Image 2" descr="/mnt/data/fraud_project/presentacion/results_cv3.png">
            <a:extLst>
              <a:ext uri="{FF2B5EF4-FFF2-40B4-BE49-F238E27FC236}">
                <a16:creationId xmlns:a16="http://schemas.microsoft.com/office/drawing/2014/main" id="{DA1AC92B-CE8A-4235-2801-C695A97F4E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608" y="2002536"/>
            <a:ext cx="3477768" cy="2112264"/>
          </a:xfrm>
          <a:prstGeom prst="rect">
            <a:avLst/>
          </a:prstGeom>
        </p:spPr>
      </p:pic>
      <p:pic>
        <p:nvPicPr>
          <p:cNvPr id="10" name="Image 3" descr="/mnt/data/fraud_project/presentacion/results_cv2.png">
            <a:extLst>
              <a:ext uri="{FF2B5EF4-FFF2-40B4-BE49-F238E27FC236}">
                <a16:creationId xmlns:a16="http://schemas.microsoft.com/office/drawing/2014/main" id="{6800DC22-F2AE-0E2B-E10F-C0EFAEB39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6346" y="4325865"/>
            <a:ext cx="2404562" cy="1597662"/>
          </a:xfrm>
          <a:prstGeom prst="rect">
            <a:avLst/>
          </a:prstGeom>
        </p:spPr>
      </p:pic>
      <p:sp>
        <p:nvSpPr>
          <p:cNvPr id="14" name="Text 4">
            <a:extLst>
              <a:ext uri="{FF2B5EF4-FFF2-40B4-BE49-F238E27FC236}">
                <a16:creationId xmlns:a16="http://schemas.microsoft.com/office/drawing/2014/main" id="{BB2DBACD-8D14-F5A4-C09A-0043DF1AD73C}"/>
              </a:ext>
            </a:extLst>
          </p:cNvPr>
          <p:cNvSpPr/>
          <p:nvPr/>
        </p:nvSpPr>
        <p:spPr>
          <a:xfrm>
            <a:off x="1054210" y="5665847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647783"/>
                </a:solidFill>
              </a:rPr>
              <a:t>Several models reached high recall, but interpretability and operational simplicity still mattered.</a:t>
            </a:r>
            <a:endParaRPr lang="en-US" sz="115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B330E82-1117-9995-C3F1-D992AAF88396}"/>
              </a:ext>
            </a:extLst>
          </p:cNvPr>
          <p:cNvSpPr/>
          <p:nvPr/>
        </p:nvSpPr>
        <p:spPr>
          <a:xfrm>
            <a:off x="7779633" y="5267711"/>
            <a:ext cx="1346079" cy="2125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4934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957E-B837-DCB7-3CA0-1F0CAB91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F2679EE3-EA1A-2728-B4FD-CCAE8E187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72B900E-778F-E878-3F18-551B16C83594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B1AAD86-15AC-1E18-C374-6072ABB46D90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9B7FA12-6E7F-925D-8E89-0E017DDC9391}"/>
              </a:ext>
            </a:extLst>
          </p:cNvPr>
          <p:cNvSpPr txBox="1"/>
          <p:nvPr/>
        </p:nvSpPr>
        <p:spPr>
          <a:xfrm>
            <a:off x="603504" y="502920"/>
            <a:ext cx="2157001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Modeling</a:t>
            </a:r>
            <a:r>
              <a:rPr lang="es-ES" sz="1050" b="1" dirty="0">
                <a:solidFill>
                  <a:srgbClr val="00848C"/>
                </a:solidFill>
              </a:rPr>
              <a:t>, </a:t>
            </a:r>
            <a:r>
              <a:rPr lang="es-ES" sz="1050" b="1" dirty="0" err="1">
                <a:solidFill>
                  <a:srgbClr val="00848C"/>
                </a:solidFill>
              </a:rPr>
              <a:t>Prediction</a:t>
            </a:r>
            <a:r>
              <a:rPr lang="es-ES" sz="1050" b="1" dirty="0">
                <a:solidFill>
                  <a:srgbClr val="00848C"/>
                </a:solidFill>
              </a:rPr>
              <a:t> &amp; </a:t>
            </a:r>
            <a:r>
              <a:rPr lang="es-ES" sz="1050" b="1" dirty="0" err="1">
                <a:solidFill>
                  <a:srgbClr val="00848C"/>
                </a:solidFill>
              </a:rPr>
              <a:t>Evaluation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200A94C-85BD-99D4-EBC2-27C423081FED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Selection of the best model</a:t>
            </a:r>
            <a:endParaRPr lang="en-US" sz="3600" dirty="0"/>
          </a:p>
        </p:txBody>
      </p:sp>
      <p:pic>
        <p:nvPicPr>
          <p:cNvPr id="6" name="Image 1" descr="/mnt/data/fraud_project/presentacion/results_final_comp.png">
            <a:extLst>
              <a:ext uri="{FF2B5EF4-FFF2-40B4-BE49-F238E27FC236}">
                <a16:creationId xmlns:a16="http://schemas.microsoft.com/office/drawing/2014/main" id="{C17C95F3-93F8-1B4C-D166-18EDD00E1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813" y="1897380"/>
            <a:ext cx="5131535" cy="3840480"/>
          </a:xfrm>
          <a:prstGeom prst="rect">
            <a:avLst/>
          </a:prstGeom>
        </p:spPr>
      </p:pic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28733148-A9C0-9D22-75A3-BC23EC610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328599"/>
              </p:ext>
            </p:extLst>
          </p:nvPr>
        </p:nvGraphicFramePr>
        <p:xfrm>
          <a:off x="6537960" y="1933956"/>
          <a:ext cx="4572000" cy="24917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Candidate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Random Forest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Strong recall, interpretable feature importance, good SHAP support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Logistic Regression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Simple and explainable, but more limited non-linearity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LightGBM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recall, but potentially harder to explain to non-technical users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4">
            <a:extLst>
              <a:ext uri="{FF2B5EF4-FFF2-40B4-BE49-F238E27FC236}">
                <a16:creationId xmlns:a16="http://schemas.microsoft.com/office/drawing/2014/main" id="{14905ECB-EAD4-1F4C-669D-1383BB2102B7}"/>
              </a:ext>
            </a:extLst>
          </p:cNvPr>
          <p:cNvSpPr/>
          <p:nvPr/>
        </p:nvSpPr>
        <p:spPr>
          <a:xfrm>
            <a:off x="6537960" y="4887468"/>
            <a:ext cx="4572000" cy="777240"/>
          </a:xfrm>
          <a:prstGeom prst="rect">
            <a:avLst/>
          </a:prstGeom>
          <a:solidFill>
            <a:srgbClr val="EAF9FC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direction: Random Forest as an explainable fraud-support model.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92470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05F67-97BB-7F4D-83F0-3FFDED03C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B7B7B1B1-91ED-4F0D-0DCB-F7850F966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68595E2-619C-97F9-8197-B4C1464EF413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17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F0B3A5F-9512-B281-4E30-EB7D43577C59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85DF24C-9951-480E-A573-BEF93794619A}"/>
              </a:ext>
            </a:extLst>
          </p:cNvPr>
          <p:cNvSpPr txBox="1"/>
          <p:nvPr/>
        </p:nvSpPr>
        <p:spPr>
          <a:xfrm>
            <a:off x="603504" y="502920"/>
            <a:ext cx="2157001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Modeling</a:t>
            </a:r>
            <a:r>
              <a:rPr lang="es-ES" sz="1050" b="1" dirty="0">
                <a:solidFill>
                  <a:srgbClr val="00848C"/>
                </a:solidFill>
              </a:rPr>
              <a:t>, </a:t>
            </a:r>
            <a:r>
              <a:rPr lang="es-ES" sz="1050" b="1" dirty="0" err="1">
                <a:solidFill>
                  <a:srgbClr val="00848C"/>
                </a:solidFill>
              </a:rPr>
              <a:t>Prediction</a:t>
            </a:r>
            <a:r>
              <a:rPr lang="es-ES" sz="1050" b="1" dirty="0">
                <a:solidFill>
                  <a:srgbClr val="00848C"/>
                </a:solidFill>
              </a:rPr>
              <a:t> &amp; </a:t>
            </a:r>
            <a:r>
              <a:rPr lang="es-ES" sz="1050" b="1" dirty="0" err="1">
                <a:solidFill>
                  <a:srgbClr val="00848C"/>
                </a:solidFill>
              </a:rPr>
              <a:t>Evaluation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19DED403-AFFF-511D-A4AC-602E6B157297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important features</a:t>
            </a:r>
            <a:endParaRPr lang="en-US" sz="3600" dirty="0"/>
          </a:p>
        </p:txBody>
      </p:sp>
      <p:pic>
        <p:nvPicPr>
          <p:cNvPr id="6" name="Image 1" descr="/mnt/data/fraud_project/presentacion/feature_imp.png">
            <a:extLst>
              <a:ext uri="{FF2B5EF4-FFF2-40B4-BE49-F238E27FC236}">
                <a16:creationId xmlns:a16="http://schemas.microsoft.com/office/drawing/2014/main" id="{1C323136-3B19-EEB1-F853-CF331F396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828800"/>
            <a:ext cx="5394960" cy="3578209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8AFA11EB-15A9-847C-46A4-0EF71CEDDFD8}"/>
              </a:ext>
            </a:extLst>
          </p:cNvPr>
          <p:cNvSpPr/>
          <p:nvPr/>
        </p:nvSpPr>
        <p:spPr>
          <a:xfrm>
            <a:off x="6949440" y="199484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65B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972C588-0282-5ECC-65A2-CD7E1DD796E0}"/>
              </a:ext>
            </a:extLst>
          </p:cNvPr>
          <p:cNvSpPr/>
          <p:nvPr/>
        </p:nvSpPr>
        <p:spPr>
          <a:xfrm>
            <a:off x="7242048" y="1976557"/>
            <a:ext cx="3200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36"/>
                </a:solidFill>
              </a:rPr>
              <a:t>BasePolicy</a:t>
            </a:r>
            <a:endParaRPr lang="en-US" sz="15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EE81CB6-E37D-3774-B867-3ACA26B0BC67}"/>
              </a:ext>
            </a:extLst>
          </p:cNvPr>
          <p:cNvSpPr/>
          <p:nvPr/>
        </p:nvSpPr>
        <p:spPr>
          <a:xfrm>
            <a:off x="6949440" y="254348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65B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EE876A3-5F6E-1367-CFC6-FCAF7104A9D9}"/>
              </a:ext>
            </a:extLst>
          </p:cNvPr>
          <p:cNvSpPr/>
          <p:nvPr/>
        </p:nvSpPr>
        <p:spPr>
          <a:xfrm>
            <a:off x="7242048" y="2525197"/>
            <a:ext cx="3200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36"/>
                </a:solidFill>
              </a:rPr>
              <a:t>Fault</a:t>
            </a:r>
            <a:endParaRPr lang="en-US" sz="15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E483BEC-220F-F355-E93A-5E6F967DA5EB}"/>
              </a:ext>
            </a:extLst>
          </p:cNvPr>
          <p:cNvSpPr/>
          <p:nvPr/>
        </p:nvSpPr>
        <p:spPr>
          <a:xfrm>
            <a:off x="6949440" y="30921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65B"/>
                </a:solidFill>
              </a:rPr>
              <a:t>✓</a:t>
            </a:r>
            <a:endParaRPr lang="en-US" sz="16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4BEC8953-E973-810F-5493-BA797B9D4E0E}"/>
              </a:ext>
            </a:extLst>
          </p:cNvPr>
          <p:cNvSpPr/>
          <p:nvPr/>
        </p:nvSpPr>
        <p:spPr>
          <a:xfrm>
            <a:off x="7242048" y="3073837"/>
            <a:ext cx="3200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36"/>
                </a:solidFill>
              </a:rPr>
              <a:t>VehicleCategory</a:t>
            </a:r>
            <a:endParaRPr lang="en-US" sz="15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A6014887-C660-3F33-3949-36E76FD9D896}"/>
              </a:ext>
            </a:extLst>
          </p:cNvPr>
          <p:cNvSpPr/>
          <p:nvPr/>
        </p:nvSpPr>
        <p:spPr>
          <a:xfrm>
            <a:off x="6949440" y="364076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65B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BAED336E-E612-7D3B-3659-5A0AA5D276E4}"/>
              </a:ext>
            </a:extLst>
          </p:cNvPr>
          <p:cNvSpPr/>
          <p:nvPr/>
        </p:nvSpPr>
        <p:spPr>
          <a:xfrm>
            <a:off x="7242048" y="3622477"/>
            <a:ext cx="3200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 err="1">
                <a:solidFill>
                  <a:srgbClr val="172B36"/>
                </a:solidFill>
              </a:rPr>
              <a:t>PastNumberOfClaims</a:t>
            </a:r>
            <a:endParaRPr lang="en-US" sz="1500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8834A441-5EA4-6174-AACD-8ABB5042FAC2}"/>
              </a:ext>
            </a:extLst>
          </p:cNvPr>
          <p:cNvSpPr/>
          <p:nvPr/>
        </p:nvSpPr>
        <p:spPr>
          <a:xfrm>
            <a:off x="6949440" y="418940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65B"/>
                </a:solidFill>
              </a:rPr>
              <a:t>✓</a:t>
            </a:r>
            <a:endParaRPr lang="en-US" sz="1600" dirty="0"/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6DC93016-1171-4C47-088A-02B145E777D4}"/>
              </a:ext>
            </a:extLst>
          </p:cNvPr>
          <p:cNvSpPr/>
          <p:nvPr/>
        </p:nvSpPr>
        <p:spPr>
          <a:xfrm>
            <a:off x="7242048" y="4171117"/>
            <a:ext cx="3200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72B36"/>
                </a:solidFill>
              </a:rPr>
              <a:t>VehiclePrice</a:t>
            </a:r>
            <a:endParaRPr lang="en-US" sz="1500" dirty="0"/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99C02713-BFEF-DDA5-9EAD-D68015D677AC}"/>
              </a:ext>
            </a:extLst>
          </p:cNvPr>
          <p:cNvSpPr/>
          <p:nvPr/>
        </p:nvSpPr>
        <p:spPr>
          <a:xfrm>
            <a:off x="6675120" y="5149525"/>
            <a:ext cx="4206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</a:rPr>
              <a:t>These features became the bridge between performance and explainability.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37099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A6FF-1E6F-E56B-B28C-32302689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39F354F7-2F82-690A-BB66-7CA912794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80E0EBF-A374-0CB5-BC09-BCA8AD06479E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45DE2BD-958A-67FF-C697-ED32535D627C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81C5FA18-2BB5-13EB-96E7-4B9105522F62}"/>
              </a:ext>
            </a:extLst>
          </p:cNvPr>
          <p:cNvSpPr txBox="1"/>
          <p:nvPr/>
        </p:nvSpPr>
        <p:spPr>
          <a:xfrm>
            <a:off x="603504" y="502920"/>
            <a:ext cx="2157001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Modeling</a:t>
            </a:r>
            <a:r>
              <a:rPr lang="es-ES" sz="1050" b="1" dirty="0">
                <a:solidFill>
                  <a:srgbClr val="00848C"/>
                </a:solidFill>
              </a:rPr>
              <a:t>, </a:t>
            </a:r>
            <a:r>
              <a:rPr lang="es-ES" sz="1050" b="1" dirty="0" err="1">
                <a:solidFill>
                  <a:srgbClr val="00848C"/>
                </a:solidFill>
              </a:rPr>
              <a:t>Prediction</a:t>
            </a:r>
            <a:r>
              <a:rPr lang="es-ES" sz="1050" b="1" dirty="0">
                <a:solidFill>
                  <a:srgbClr val="00848C"/>
                </a:solidFill>
              </a:rPr>
              <a:t> &amp; </a:t>
            </a:r>
            <a:r>
              <a:rPr lang="es-ES" sz="1050" b="1" dirty="0" err="1">
                <a:solidFill>
                  <a:srgbClr val="00848C"/>
                </a:solidFill>
              </a:rPr>
              <a:t>Evaluation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AAA6CDE-AF06-2910-F177-3B28EB631650}"/>
              </a:ext>
            </a:extLst>
          </p:cNvPr>
          <p:cNvSpPr/>
          <p:nvPr/>
        </p:nvSpPr>
        <p:spPr>
          <a:xfrm>
            <a:off x="658368" y="7315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4 (Final) — Top 5 features</a:t>
            </a:r>
            <a:endParaRPr lang="en-US" sz="3600" dirty="0"/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6908D654-7F30-BC24-E7BF-4B373D775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074901"/>
              </p:ext>
            </p:extLst>
          </p:nvPr>
        </p:nvGraphicFramePr>
        <p:xfrm>
          <a:off x="1143000" y="1949235"/>
          <a:ext cx="4297680" cy="19812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Random Forest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Test Recall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0.94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 Recall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5 most important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4">
            <a:extLst>
              <a:ext uri="{FF2B5EF4-FFF2-40B4-BE49-F238E27FC236}">
                <a16:creationId xmlns:a16="http://schemas.microsoft.com/office/drawing/2014/main" id="{6791C8DA-E919-A783-B0D9-474BA2A41662}"/>
              </a:ext>
            </a:extLst>
          </p:cNvPr>
          <p:cNvSpPr/>
          <p:nvPr/>
        </p:nvSpPr>
        <p:spPr>
          <a:xfrm>
            <a:off x="5974080" y="1949235"/>
            <a:ext cx="4846320" cy="1783080"/>
          </a:xfrm>
          <a:prstGeom prst="rect">
            <a:avLst/>
          </a:prstGeom>
          <a:solidFill>
            <a:srgbClr val="EAF9FC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intentionally recall-oriented: it catches many fraud cases, then threshold tuning controls review volume.</a:t>
            </a:r>
            <a:endParaRPr lang="en-US" sz="18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3D4C2322-1207-CDC1-7F82-4202945AFF7C}"/>
              </a:ext>
            </a:extLst>
          </p:cNvPr>
          <p:cNvSpPr/>
          <p:nvPr/>
        </p:nvSpPr>
        <p:spPr>
          <a:xfrm>
            <a:off x="6385559" y="4345040"/>
            <a:ext cx="3657600" cy="1583319"/>
          </a:xfrm>
          <a:prstGeom prst="rect">
            <a:avLst/>
          </a:prstGeom>
          <a:solidFill>
            <a:srgbClr val="FFFFFF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 the recall score is lower than the estimate from the previous scenario (Random Forest: 0.96), we will use this model because of its interpretability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33576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0AC1D-9916-FFAC-76A2-817B2EEA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B43C423D-509A-DD3F-BCA1-4E8E073DB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BEF504A-C5A3-F689-78DD-6D3BAC85946D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989D5B2-9E95-CF63-7559-0502E7F2D8F3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4677B364-E7FD-4B18-0058-0552F8680A9F}"/>
              </a:ext>
            </a:extLst>
          </p:cNvPr>
          <p:cNvSpPr txBox="1"/>
          <p:nvPr/>
        </p:nvSpPr>
        <p:spPr>
          <a:xfrm>
            <a:off x="603504" y="502920"/>
            <a:ext cx="1873270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Threshold</a:t>
            </a:r>
            <a:r>
              <a:rPr lang="es-ES" sz="1050" b="1" dirty="0">
                <a:solidFill>
                  <a:srgbClr val="00848C"/>
                </a:solidFill>
              </a:rPr>
              <a:t> &amp; Business </a:t>
            </a:r>
            <a:r>
              <a:rPr lang="es-ES" sz="1050" b="1" dirty="0" err="1">
                <a:solidFill>
                  <a:srgbClr val="00848C"/>
                </a:solidFill>
              </a:rPr>
              <a:t>Impact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4DAC4F4-04F6-7FD4-44D8-9B136D94F172}"/>
              </a:ext>
            </a:extLst>
          </p:cNvPr>
          <p:cNvSpPr/>
          <p:nvPr/>
        </p:nvSpPr>
        <p:spPr>
          <a:xfrm>
            <a:off x="658368" y="731520"/>
            <a:ext cx="90495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Thresholds turn probabilities into business decisions</a:t>
            </a:r>
            <a:endParaRPr lang="en-US" sz="3600" dirty="0"/>
          </a:p>
        </p:txBody>
      </p:sp>
      <p:pic>
        <p:nvPicPr>
          <p:cNvPr id="6" name="Image 1" descr="/mnt/data/fraud_project/presentacion/cm_flecha3.png">
            <a:extLst>
              <a:ext uri="{FF2B5EF4-FFF2-40B4-BE49-F238E27FC236}">
                <a16:creationId xmlns:a16="http://schemas.microsoft.com/office/drawing/2014/main" id="{52B9F02C-C3A6-AAFF-7854-5E0605573F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644396"/>
            <a:ext cx="5212080" cy="3474720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C55D1DB2-C54E-B90E-32A7-6A9FA6671DC2}"/>
              </a:ext>
            </a:extLst>
          </p:cNvPr>
          <p:cNvSpPr/>
          <p:nvPr/>
        </p:nvSpPr>
        <p:spPr>
          <a:xfrm>
            <a:off x="1097280" y="5512308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B36"/>
                </a:solidFill>
              </a:rPr>
              <a:t>Lower threshold → more claims flagged → higher recall, lower precision.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72B36"/>
                </a:solidFill>
              </a:rPr>
              <a:t>Higher threshold → fewer reviews → lower false positives, but more missed fraud.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87733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985E-A2F6-F767-F841-067032EA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DEB65578-66F0-D101-4454-900CC2F2B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98EB71D-9D13-372C-1304-1F10E011D91C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28D8DC8-9062-54BF-3C7A-A0F4AE2A476A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27087C4-9A3D-2FBB-BB44-D32BDE033D71}"/>
              </a:ext>
            </a:extLst>
          </p:cNvPr>
          <p:cNvSpPr txBox="1"/>
          <p:nvPr/>
        </p:nvSpPr>
        <p:spPr>
          <a:xfrm>
            <a:off x="603504" y="502920"/>
            <a:ext cx="1873270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Threshold</a:t>
            </a:r>
            <a:r>
              <a:rPr lang="es-ES" sz="1050" b="1" dirty="0">
                <a:solidFill>
                  <a:srgbClr val="00848C"/>
                </a:solidFill>
              </a:rPr>
              <a:t> &amp; Business </a:t>
            </a:r>
            <a:r>
              <a:rPr lang="es-ES" sz="1050" b="1" dirty="0" err="1">
                <a:solidFill>
                  <a:srgbClr val="00848C"/>
                </a:solidFill>
              </a:rPr>
              <a:t>Impact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E005F6A-8250-5681-2488-2B1FB77DBE43}"/>
              </a:ext>
            </a:extLst>
          </p:cNvPr>
          <p:cNvSpPr/>
          <p:nvPr/>
        </p:nvSpPr>
        <p:spPr>
          <a:xfrm>
            <a:off x="658368" y="731520"/>
            <a:ext cx="90495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 comparison</a:t>
            </a:r>
            <a:endParaRPr lang="en-US" sz="3600" dirty="0"/>
          </a:p>
        </p:txBody>
      </p:sp>
      <p:pic>
        <p:nvPicPr>
          <p:cNvPr id="8" name="Image 1" descr="/mnt/data/fraud_project/presentacion/cm0.2.png">
            <a:extLst>
              <a:ext uri="{FF2B5EF4-FFF2-40B4-BE49-F238E27FC236}">
                <a16:creationId xmlns:a16="http://schemas.microsoft.com/office/drawing/2014/main" id="{F1F3C4D6-7FCA-3813-6259-00D90032D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484395"/>
            <a:ext cx="2489577" cy="2148840"/>
          </a:xfrm>
          <a:prstGeom prst="rect">
            <a:avLst/>
          </a:prstGeom>
        </p:spPr>
      </p:pic>
      <p:pic>
        <p:nvPicPr>
          <p:cNvPr id="12" name="Image 2" descr="/mnt/data/fraud_project/presentacion/cm0.5.png">
            <a:extLst>
              <a:ext uri="{FF2B5EF4-FFF2-40B4-BE49-F238E27FC236}">
                <a16:creationId xmlns:a16="http://schemas.microsoft.com/office/drawing/2014/main" id="{2F33ADA1-C487-4499-E288-93EC6B505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1484395"/>
            <a:ext cx="2489577" cy="2148840"/>
          </a:xfrm>
          <a:prstGeom prst="rect">
            <a:avLst/>
          </a:prstGeom>
        </p:spPr>
      </p:pic>
      <p:pic>
        <p:nvPicPr>
          <p:cNvPr id="14" name="Image 3" descr="/mnt/data/fraud_project/presentacion/cm0.6.png">
            <a:extLst>
              <a:ext uri="{FF2B5EF4-FFF2-40B4-BE49-F238E27FC236}">
                <a16:creationId xmlns:a16="http://schemas.microsoft.com/office/drawing/2014/main" id="{50807175-F2E0-309B-7C5F-889F45299A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9904" y="1484395"/>
            <a:ext cx="2489577" cy="2148840"/>
          </a:xfrm>
          <a:prstGeom prst="rect">
            <a:avLst/>
          </a:prstGeom>
        </p:spPr>
      </p:pic>
      <p:pic>
        <p:nvPicPr>
          <p:cNvPr id="16" name="Image 4" descr="/mnt/data/fraud_project/presentacion/cm0.7.png">
            <a:extLst>
              <a:ext uri="{FF2B5EF4-FFF2-40B4-BE49-F238E27FC236}">
                <a16:creationId xmlns:a16="http://schemas.microsoft.com/office/drawing/2014/main" id="{CCE0F255-F357-F30F-9AC2-B38763F540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104" y="1484395"/>
            <a:ext cx="2489577" cy="2148840"/>
          </a:xfrm>
          <a:prstGeom prst="rect">
            <a:avLst/>
          </a:prstGeom>
        </p:spPr>
      </p:pic>
      <p:graphicFrame>
        <p:nvGraphicFramePr>
          <p:cNvPr id="18" name="Table 0">
            <a:extLst>
              <a:ext uri="{FF2B5EF4-FFF2-40B4-BE49-F238E27FC236}">
                <a16:creationId xmlns:a16="http://schemas.microsoft.com/office/drawing/2014/main" id="{575BABC7-A16B-5573-DDB1-E96DEA58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947444"/>
              </p:ext>
            </p:extLst>
          </p:nvPr>
        </p:nvGraphicFramePr>
        <p:xfrm>
          <a:off x="865312" y="4136155"/>
          <a:ext cx="10195560" cy="1463040"/>
        </p:xfrm>
        <a:graphic>
          <a:graphicData uri="http://schemas.openxmlformats.org/drawingml/2006/table">
            <a:tbl>
              <a:tblPr/>
              <a:tblGrid>
                <a:gridCol w="2548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8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Threshold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Reading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1,474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highest recall, many reviews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1,190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rule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operationally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fewer reviews, more missed fraud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088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B4E8-8DF2-55D4-E381-DADF5CE1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6E6788C4-1B2A-D6CF-F015-A0EDEC752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C2C8245-C3C5-C97A-6B31-89A64AE2B27D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21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BD626F-334E-3028-4EAC-86C47ED68B8C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40DA278-77A4-4825-F3B9-01358D3E38FB}"/>
              </a:ext>
            </a:extLst>
          </p:cNvPr>
          <p:cNvSpPr txBox="1"/>
          <p:nvPr/>
        </p:nvSpPr>
        <p:spPr>
          <a:xfrm>
            <a:off x="603504" y="502920"/>
            <a:ext cx="1873270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Threshold</a:t>
            </a:r>
            <a:r>
              <a:rPr lang="es-ES" sz="1050" b="1" dirty="0">
                <a:solidFill>
                  <a:srgbClr val="00848C"/>
                </a:solidFill>
              </a:rPr>
              <a:t> &amp; Business </a:t>
            </a:r>
            <a:r>
              <a:rPr lang="es-ES" sz="1050" b="1" dirty="0" err="1">
                <a:solidFill>
                  <a:srgbClr val="00848C"/>
                </a:solidFill>
              </a:rPr>
              <a:t>Impact</a:t>
            </a:r>
            <a:endParaRPr lang="es-ES" sz="1050" b="1" dirty="0">
              <a:solidFill>
                <a:srgbClr val="00848C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8B5A478-8D82-91B4-5D6A-B67855433AD5}"/>
              </a:ext>
            </a:extLst>
          </p:cNvPr>
          <p:cNvSpPr/>
          <p:nvPr/>
        </p:nvSpPr>
        <p:spPr>
          <a:xfrm>
            <a:off x="658368" y="731520"/>
            <a:ext cx="90495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impact: expected cost</a:t>
            </a:r>
            <a:endParaRPr lang="en-US" sz="36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E8FBFAA0-BBB7-AA2C-D16B-5D512840E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4528754"/>
              </p:ext>
            </p:extLst>
          </p:nvPr>
        </p:nvGraphicFramePr>
        <p:xfrm>
          <a:off x="868680" y="2570969"/>
          <a:ext cx="6126480" cy="2880360"/>
        </p:xfrm>
        <a:graphic>
          <a:graphicData uri="http://schemas.openxmlformats.org/drawingml/2006/table">
            <a:tbl>
              <a:tblPr/>
              <a:tblGrid>
                <a:gridCol w="153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Threshold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False negatives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False positives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Estimated cost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1,474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€165,400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1,190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92D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€155,000</a:t>
                      </a:r>
                      <a:endParaRPr lang="en-US" sz="1500" b="1" dirty="0">
                        <a:solidFill>
                          <a:srgbClr val="92D050"/>
                        </a:solidFill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998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€201,800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574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2B3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€324,400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>
                    <a:lnL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2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>
            <a:extLst>
              <a:ext uri="{FF2B5EF4-FFF2-40B4-BE49-F238E27FC236}">
                <a16:creationId xmlns:a16="http://schemas.microsoft.com/office/drawing/2014/main" id="{EFE52552-E817-395A-5EEF-9EE84B127C6F}"/>
              </a:ext>
            </a:extLst>
          </p:cNvPr>
          <p:cNvSpPr/>
          <p:nvPr/>
        </p:nvSpPr>
        <p:spPr>
          <a:xfrm>
            <a:off x="7452360" y="2616689"/>
            <a:ext cx="3520440" cy="2788920"/>
          </a:xfrm>
          <a:prstGeom prst="rect">
            <a:avLst/>
          </a:prstGeom>
          <a:solidFill>
            <a:srgbClr val="FFF8EE"/>
          </a:solidFill>
          <a:ln>
            <a:solidFill>
              <a:srgbClr val="F7DBAF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Assumptions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positive review: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€100</a:t>
            </a:r>
            <a:endParaRPr lang="en-US" sz="20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negative missed fraud: </a:t>
            </a:r>
            <a:r>
              <a:rPr lang="en-US" sz="20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€3,000</a:t>
            </a:r>
            <a:endParaRPr lang="en-US" sz="20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threshold is therefore a business decision, not only a modeling parameter.</a:t>
            </a:r>
            <a:endParaRPr lang="en-US" sz="17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67268FB-50A0-6060-1CF2-F69EAC01DC53}"/>
              </a:ext>
            </a:extLst>
          </p:cNvPr>
          <p:cNvSpPr txBox="1"/>
          <p:nvPr/>
        </p:nvSpPr>
        <p:spPr>
          <a:xfrm>
            <a:off x="3623872" y="1467307"/>
            <a:ext cx="64944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Hypothetical scenario: By manually reviewing all claims, only 100 cases of fraud are detected. That means 3,084 claims will be reviewed, and there will be 85 false negatives.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9740ECB-6F99-6A10-937E-BB1739087940}"/>
              </a:ext>
            </a:extLst>
          </p:cNvPr>
          <p:cNvSpPr txBox="1"/>
          <p:nvPr/>
        </p:nvSpPr>
        <p:spPr>
          <a:xfrm>
            <a:off x="868680" y="1529804"/>
            <a:ext cx="2609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3084*100 + 100*3000=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7BB0D51-A09D-4503-E86E-9AB97133F0AB}"/>
              </a:ext>
            </a:extLst>
          </p:cNvPr>
          <p:cNvSpPr txBox="1"/>
          <p:nvPr/>
        </p:nvSpPr>
        <p:spPr>
          <a:xfrm>
            <a:off x="414328" y="1865793"/>
            <a:ext cx="3209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rgbClr val="FF0000"/>
                </a:solidFill>
              </a:rPr>
              <a:t>608,400</a:t>
            </a:r>
          </a:p>
        </p:txBody>
      </p:sp>
    </p:spTree>
    <p:extLst>
      <p:ext uri="{BB962C8B-B14F-4D97-AF65-F5344CB8AC3E}">
        <p14:creationId xmlns:p14="http://schemas.microsoft.com/office/powerpoint/2010/main" val="2268657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007C-9919-AAC5-6A5E-895BE9FE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9EEA5170-20A5-296F-8672-62F254894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5609E8F-9562-2FA8-8939-D990EB75E94C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22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093C84D-D4EE-3EFB-318A-014A1F6AA312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4382ECC-800A-D492-D87A-364150806456}"/>
              </a:ext>
            </a:extLst>
          </p:cNvPr>
          <p:cNvSpPr txBox="1"/>
          <p:nvPr/>
        </p:nvSpPr>
        <p:spPr>
          <a:xfrm>
            <a:off x="603504" y="502920"/>
            <a:ext cx="1437253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Explainability</a:t>
            </a:r>
            <a:r>
              <a:rPr lang="es-ES" sz="1050" b="1" dirty="0">
                <a:solidFill>
                  <a:srgbClr val="00848C"/>
                </a:solidFill>
              </a:rPr>
              <a:t> &amp; Demo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BF3A763-0F29-AA94-4333-60108DF37877}"/>
              </a:ext>
            </a:extLst>
          </p:cNvPr>
          <p:cNvSpPr/>
          <p:nvPr/>
        </p:nvSpPr>
        <p:spPr>
          <a:xfrm>
            <a:off x="658368" y="731520"/>
            <a:ext cx="90495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 with SHAP</a:t>
            </a:r>
            <a:endParaRPr lang="en-US" sz="3600" dirty="0"/>
          </a:p>
        </p:txBody>
      </p:sp>
      <p:pic>
        <p:nvPicPr>
          <p:cNvPr id="15" name="Image 2" descr="/mnt/data/notebook_outputs/cell174_out0.png">
            <a:extLst>
              <a:ext uri="{FF2B5EF4-FFF2-40B4-BE49-F238E27FC236}">
                <a16:creationId xmlns:a16="http://schemas.microsoft.com/office/drawing/2014/main" id="{336E2E60-0C92-1BCC-C886-3F1C91A5B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236538"/>
            <a:ext cx="5074920" cy="2064884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786C0834-DE95-A2FF-9400-BD98D65F7ADB}"/>
              </a:ext>
            </a:extLst>
          </p:cNvPr>
          <p:cNvSpPr/>
          <p:nvPr/>
        </p:nvSpPr>
        <p:spPr>
          <a:xfrm>
            <a:off x="868680" y="5004011"/>
            <a:ext cx="10149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i="1" dirty="0">
                <a:solidFill>
                  <a:srgbClr val="647783"/>
                </a:solidFill>
              </a:rPr>
              <a:t>Global explanations show which features consistently move predictions toward or away from fraud.</a:t>
            </a:r>
            <a:endParaRPr lang="en-US" sz="1150" dirty="0"/>
          </a:p>
        </p:txBody>
      </p:sp>
      <p:pic>
        <p:nvPicPr>
          <p:cNvPr id="19" name="Image 1" descr="/mnt/data/notebook_outputs/cell179_out0.png">
            <a:extLst>
              <a:ext uri="{FF2B5EF4-FFF2-40B4-BE49-F238E27FC236}">
                <a16:creationId xmlns:a16="http://schemas.microsoft.com/office/drawing/2014/main" id="{BB0BD551-A445-C304-2468-A3FE5C295C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157254"/>
            <a:ext cx="5212080" cy="222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87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D011-B349-C546-0701-58DBE2047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/mnt/data/a_clean_minimal_modern_blank_presentation_info.png">
            <a:extLst>
              <a:ext uri="{FF2B5EF4-FFF2-40B4-BE49-F238E27FC236}">
                <a16:creationId xmlns:a16="http://schemas.microsoft.com/office/drawing/2014/main" id="{E96F7ED7-5A1A-BCF1-15B5-2DE6B25F3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D8C8DF6-82B2-E653-6BA9-31E33FE49D0E}"/>
              </a:ext>
            </a:extLst>
          </p:cNvPr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23</a:t>
            </a:r>
            <a:endParaRPr lang="en-US" sz="10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3082F1C-D77B-DA0D-01D9-6365E4AF15D0}"/>
              </a:ext>
            </a:extLst>
          </p:cNvPr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F5E1D447-928C-1779-2626-525D536D14B6}"/>
              </a:ext>
            </a:extLst>
          </p:cNvPr>
          <p:cNvSpPr txBox="1"/>
          <p:nvPr/>
        </p:nvSpPr>
        <p:spPr>
          <a:xfrm>
            <a:off x="603504" y="502920"/>
            <a:ext cx="1437253" cy="161583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lang="es-ES" sz="1050" b="1" dirty="0" err="1">
                <a:solidFill>
                  <a:srgbClr val="00848C"/>
                </a:solidFill>
              </a:rPr>
              <a:t>Explainability</a:t>
            </a:r>
            <a:r>
              <a:rPr lang="es-ES" sz="1050" b="1" dirty="0">
                <a:solidFill>
                  <a:srgbClr val="00848C"/>
                </a:solidFill>
              </a:rPr>
              <a:t> &amp; Demo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D3F3AF-2140-DFEC-E912-DF74000F3058}"/>
              </a:ext>
            </a:extLst>
          </p:cNvPr>
          <p:cNvSpPr txBox="1"/>
          <p:nvPr/>
        </p:nvSpPr>
        <p:spPr>
          <a:xfrm>
            <a:off x="3674935" y="2982882"/>
            <a:ext cx="48418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err="1"/>
              <a:t>Cmd</a:t>
            </a:r>
            <a:r>
              <a:rPr lang="es-ES" sz="2400" dirty="0"/>
              <a:t> -&gt; </a:t>
            </a:r>
            <a:r>
              <a:rPr lang="es-ES" sz="2400" dirty="0" err="1"/>
              <a:t>streamlit</a:t>
            </a:r>
            <a:r>
              <a:rPr lang="es-ES" sz="2400" dirty="0"/>
              <a:t> run app.py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8AB837A-C23F-9F0D-E804-C00FC70831F5}"/>
              </a:ext>
            </a:extLst>
          </p:cNvPr>
          <p:cNvSpPr/>
          <p:nvPr/>
        </p:nvSpPr>
        <p:spPr>
          <a:xfrm>
            <a:off x="658368" y="731520"/>
            <a:ext cx="904951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r>
              <a:rPr lang="en-US" sz="3600" b="1" dirty="0" err="1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15726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24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5029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Summary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58368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B8"/>
                </a:solidFill>
              </a:rPr>
              <a:t>━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10058400" cy="4160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starts from a real business problem: missed fraud is much more expensive than extra review.</a:t>
            </a:r>
            <a:endParaRPr lang="en-US" sz="1800" dirty="0"/>
          </a:p>
          <a:p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weights and hyperparameter tuning improved fraud recall substantially.</a:t>
            </a:r>
            <a:endParaRPr lang="en-US" sz="1800" dirty="0"/>
          </a:p>
          <a:p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Random Forest model with top features offered a strong mix of recall, simplicity and explainability.</a:t>
            </a:r>
            <a:endParaRPr lang="en-US" sz="1800" dirty="0"/>
          </a:p>
          <a:p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tuning connected model performance to estimated business cost.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25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5029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58368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B8"/>
                </a:solidFill>
              </a:rPr>
              <a:t>━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1463040"/>
            <a:ext cx="4937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Think in business decisions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probability is useful only when it supports an action.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55080" y="1463040"/>
            <a:ext cx="4937760" cy="1051560"/>
          </a:xfrm>
          <a:prstGeom prst="rect">
            <a:avLst/>
          </a:prstGeom>
          <a:solidFill>
            <a:srgbClr val="EAF9FC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Choose metrics from risk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matters because false negatives are expensive.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971800"/>
            <a:ext cx="4937760" cy="1051560"/>
          </a:xfrm>
          <a:prstGeom prst="rect">
            <a:avLst/>
          </a:prstGeom>
          <a:solidFill>
            <a:srgbClr val="EAF9FC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Balance performance and trust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Explainability matters when people must act on model results.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55080" y="2971800"/>
            <a:ext cx="4937760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Tune the threshold, not only the model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cost can change the optimal decision rule.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143000" y="498348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565B"/>
                </a:solidFill>
              </a:rPr>
              <a:t>The final product is a decision-support system, not just a prediction exercise.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6419088"/>
            <a:ext cx="365760" cy="228600"/>
          </a:xfrm>
          <a:prstGeom prst="rect">
            <a:avLst/>
          </a:prstGeom>
          <a:solidFill>
            <a:srgbClr val="00A6B8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26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86384" y="6409944"/>
            <a:ext cx="329184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– Final Project Presentation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58368" y="502920"/>
            <a:ext cx="83210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58368" y="10424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B8"/>
                </a:solidFill>
              </a:rPr>
              <a:t>━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6384" y="996696"/>
            <a:ext cx="6675120" cy="3886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FrAudvisor identifies suspicious claims with a recall-oriented Random Forest model.</a:t>
            </a:r>
            <a:endParaRPr lang="en-US" sz="1800" dirty="0"/>
          </a:p>
          <a:p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translates technical results into review policy and cost impact.</a:t>
            </a:r>
            <a:endParaRPr lang="en-US" sz="1800" dirty="0"/>
          </a:p>
          <a:p>
            <a:r>
              <a:rPr lang="en-US" sz="1800" dirty="0">
                <a:solidFill>
                  <a:srgbClr val="172B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step would be validating the threshold with real claim costs, reviewer capacity and historical fraud outcomes.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909560" y="1874520"/>
            <a:ext cx="3200400" cy="2057400"/>
          </a:xfrm>
          <a:prstGeom prst="rect">
            <a:avLst/>
          </a:prstGeom>
          <a:solidFill>
            <a:srgbClr val="EAF9FC"/>
          </a:solidFill>
          <a:ln>
            <a:solidFill>
              <a:srgbClr val="CFEFF5">
                <a:alpha val="8000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message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5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should help humans prioritize investigations faster, not replace expert judgment.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inimal_modern_blank_presentation_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056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THANKS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1097280" y="2880360"/>
            <a:ext cx="9966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2B36"/>
                </a:solidFill>
              </a:rPr>
              <a:t>FrAudvisor — Car Insurance Fraud Detection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97280" y="3703320"/>
            <a:ext cx="99669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endParaRPr lang="en-US" sz="2700" dirty="0"/>
          </a:p>
        </p:txBody>
      </p:sp>
      <p:pic>
        <p:nvPicPr>
          <p:cNvPr id="6" name="Image 1" descr="/mnt/data/fraud_cover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181" y="3749040"/>
            <a:ext cx="5409332" cy="2423160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D3B1CDCE-672D-CFA9-1E21-D8BDA95291CD}"/>
              </a:ext>
            </a:extLst>
          </p:cNvPr>
          <p:cNvSpPr/>
          <p:nvPr/>
        </p:nvSpPr>
        <p:spPr>
          <a:xfrm>
            <a:off x="9110100" y="5508256"/>
            <a:ext cx="3474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72B36"/>
                </a:solidFill>
              </a:rPr>
              <a:t>Presented by Yoan Liu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1456</Words>
  <Application>Microsoft Office PowerPoint</Application>
  <PresentationFormat>Panorámica</PresentationFormat>
  <Paragraphs>363</Paragraphs>
  <Slides>27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FrAudvisor Final Project Presentation</dc:title>
  <dc:subject>FrAudvisor - Car Insurance Fraud Detection</dc:subject>
  <dc:creator>OpenAI</dc:creator>
  <cp:lastModifiedBy>Yoan Liu</cp:lastModifiedBy>
  <cp:revision>3</cp:revision>
  <dcterms:created xsi:type="dcterms:W3CDTF">2026-08-13T20:44:32Z</dcterms:created>
  <dcterms:modified xsi:type="dcterms:W3CDTF">2026-08-14T00:40:23Z</dcterms:modified>
</cp:coreProperties>
</file>